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by briefly orienting students to where they are in the course. Emphasize that today's lecture builds directly on 1NF and 2NF. Remind students that normalization directly prevents data anomalies in real-world databases. Encourage them to think of each normal form as a progressively stricter rule that removes a specific type of redundancy.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bridge. Spend only 3-4 minutes here. Remind students that 1NF removes multi-valued cells and 2NF removes partial dependencies. Lead into: even after 2NF, transitive dependencies can still exist — which is exactly what 3NF addresses.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'nothing but the key' mnemonic covers all three normal forms: 1NF=the key, 2NF=the whole key, 3NF=nothing but the key. Walk through each anomaly — losing ALL dept info because the last student was deleted is the most striking example. After decomposition, DeptName lives in exactly one place.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often ask: if 3NF removes transitive dependencies, what's left for BCNF? Answer: prime attributes. 3NF still permits an FD where a prime attribute depends on a non-superkey. BCNF closes this loophole. Important caveat: BCNF decomposition is not always dependency-preserving — in some cases you must choose between BCNF and preserving all FDs.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Multi-valued dependencies are harder to spot — the issue is two attributes being independently determined by the same key and mistakenly combined. The classic sign is needing a Cartesian product of values to represent all combinations. 4NF is less common in production but important for theoretical completeness. 5NF is largely theoretical — key insight: it deals with relationships that only make sense in triplicate.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ladder diagram is one of the most important visual aids in normalization. Use it to reinforce that each normal form includes all requirements of lower forms. A table in BCNF is also in 3NF, 2NF, and 1NF. The converse is not true. This hierarchy helps students quickly determine which form a table is in by checking conditions from bottom to 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students confuse determinants with primary keys. Stress that a determinant can be ANY attribute or set — it doesn't have to be the PK. A non-key attribute can be a determinant (e.g., Email → Phone), and that's what causes transitive dependency issues in 3NF. Walk through each FD in the Employee Project table and have students identify whether it is full, partial, or transitive.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workflow students can apply methodically. Normalization is iterative — after each step, re-examine what remains. In practice, most designers target 3NF or BCNF and stop there. Lossless join is non-negotiable — if decomposition creates false rows upon joining, it is wrong. Dependency preservation is a quality goal — losing a dependency means the database can no longer enforce that business rule.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wrap-up. Ask students to close notes and recall: what does each NF eliminate? Reiterate that normalization is cumulative — each level builds on the last. Over-normalization is a real-world problem. Denormalization is a deliberate, documented design decision — the opposite of sloppy design. Preview next topics: denormalization, indexing strategies, or physical database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37160"/>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0840"/>
            <a:ext cx="12188952" cy="137160"/>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371600"/>
            <a:ext cx="9445752" cy="41148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17320" y="1417320"/>
            <a:ext cx="9354312" cy="73152"/>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54480" y="1554480"/>
            <a:ext cx="9052560" cy="1097280"/>
          </a:xfrm>
          <a:prstGeom prst="rect">
            <a:avLst/>
          </a:prstGeom>
          <a:noFill/>
        </p:spPr>
        <p:txBody>
          <a:bodyPr wrap="square">
            <a:spAutoFit/>
          </a:bodyPr>
          <a:lstStyle/>
          <a:p>
            <a:pPr algn="ctr"/>
            <a:r>
              <a:rPr sz="3800" b="1" i="0">
                <a:solidFill>
                  <a:srgbClr val="FFFFFF"/>
                </a:solidFill>
              </a:rPr>
              <a:t>Advanced Normalization Concepts</a:t>
            </a:r>
          </a:p>
        </p:txBody>
      </p:sp>
      <p:sp>
        <p:nvSpPr>
          <p:cNvPr id="8" name="TextBox 7"/>
          <p:cNvSpPr txBox="1"/>
          <p:nvPr/>
        </p:nvSpPr>
        <p:spPr>
          <a:xfrm>
            <a:off x="1554480" y="2606040"/>
            <a:ext cx="9052560" cy="548640"/>
          </a:xfrm>
          <a:prstGeom prst="rect">
            <a:avLst/>
          </a:prstGeom>
          <a:noFill/>
        </p:spPr>
        <p:txBody>
          <a:bodyPr wrap="square">
            <a:spAutoFit/>
          </a:bodyPr>
          <a:lstStyle/>
          <a:p>
            <a:pPr algn="ctr"/>
            <a:r>
              <a:rPr sz="2000" b="0" i="0">
                <a:solidFill>
                  <a:srgbClr val="268BD2"/>
                </a:solidFill>
              </a:rPr>
              <a:t>Deepening Understanding of Normalization Rules</a:t>
            </a:r>
          </a:p>
        </p:txBody>
      </p:sp>
      <p:sp>
        <p:nvSpPr>
          <p:cNvPr id="9" name="Rectangle 8"/>
          <p:cNvSpPr/>
          <p:nvPr/>
        </p:nvSpPr>
        <p:spPr>
          <a:xfrm>
            <a:off x="3200400" y="3246120"/>
            <a:ext cx="5788152" cy="45720"/>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383280"/>
            <a:ext cx="9052560" cy="457200"/>
          </a:xfrm>
          <a:prstGeom prst="rect">
            <a:avLst/>
          </a:prstGeom>
          <a:noFill/>
        </p:spPr>
        <p:txBody>
          <a:bodyPr wrap="square">
            <a:spAutoFit/>
          </a:bodyPr>
          <a:lstStyle/>
          <a:p>
            <a:pPr algn="ctr"/>
            <a:r>
              <a:rPr sz="1600" b="0" i="0">
                <a:solidFill>
                  <a:srgbClr val="ECEFF4"/>
                </a:solidFill>
              </a:rPr>
              <a:t>Advanced System Design and Implementation</a:t>
            </a:r>
          </a:p>
        </p:txBody>
      </p:sp>
      <p:sp>
        <p:nvSpPr>
          <p:cNvPr id="11" name="TextBox 10"/>
          <p:cNvSpPr txBox="1"/>
          <p:nvPr/>
        </p:nvSpPr>
        <p:spPr>
          <a:xfrm>
            <a:off x="1554480" y="3886200"/>
            <a:ext cx="9052560" cy="365760"/>
          </a:xfrm>
          <a:prstGeom prst="rect">
            <a:avLst/>
          </a:prstGeom>
          <a:noFill/>
        </p:spPr>
        <p:txBody>
          <a:bodyPr wrap="square">
            <a:spAutoFit/>
          </a:bodyPr>
          <a:lstStyle/>
          <a:p>
            <a:pPr algn="ctr"/>
            <a:r>
              <a:rPr sz="1400" b="0" i="0">
                <a:solidFill>
                  <a:srgbClr val="FFD166"/>
                </a:solidFill>
              </a:rPr>
              <a:t>April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Overview</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What We'll Cover Today</a:t>
            </a:r>
          </a:p>
        </p:txBody>
      </p:sp>
      <p:sp>
        <p:nvSpPr>
          <p:cNvPr id="8" name="TextBox 7"/>
          <p:cNvSpPr txBox="1"/>
          <p:nvPr/>
        </p:nvSpPr>
        <p:spPr>
          <a:xfrm>
            <a:off x="548640" y="1188720"/>
            <a:ext cx="11064240" cy="5303520"/>
          </a:xfrm>
          <a:prstGeom prst="rect">
            <a:avLst/>
          </a:prstGeom>
          <a:noFill/>
        </p:spPr>
        <p:txBody>
          <a:bodyPr wrap="square">
            <a:spAutoFit/>
          </a:bodyPr>
          <a:lstStyle/>
          <a:p>
            <a:pPr algn="l"/>
            <a:r>
              <a:rPr sz="1500" b="1">
                <a:solidFill>
                  <a:srgbClr val="FFFFFF"/>
                </a:solidFill>
              </a:rPr>
              <a:t>  📌  Quick Recap: 1NF and 2NF</a:t>
            </a:r>
          </a:p>
          <a:p>
            <a:pPr algn="l"/>
            <a:r>
              <a:rPr sz="1500" b="0">
                <a:solidFill>
                  <a:srgbClr val="FFFFFF"/>
                </a:solidFill>
              </a:rPr>
              <a:t/>
            </a:r>
          </a:p>
          <a:p>
            <a:pPr algn="l"/>
            <a:r>
              <a:rPr sz="1500" b="1">
                <a:solidFill>
                  <a:srgbClr val="FFFFFF"/>
                </a:solidFill>
              </a:rPr>
              <a:t>  📌  B. Normal Forms (Part 2)</a:t>
            </a:r>
          </a:p>
          <a:p>
            <a:pPr algn="l"/>
            <a:r>
              <a:rPr sz="1500" b="0">
                <a:solidFill>
                  <a:srgbClr val="FFFFFF"/>
                </a:solidFill>
              </a:rPr>
              <a:t>         •  Third Normal Form (3NF)</a:t>
            </a:r>
          </a:p>
          <a:p>
            <a:pPr algn="l"/>
            <a:r>
              <a:rPr sz="1500" b="0">
                <a:solidFill>
                  <a:srgbClr val="FFFFFF"/>
                </a:solidFill>
              </a:rPr>
              <a:t>         •  Boyce-Codd Normal Form (BCNF)</a:t>
            </a:r>
          </a:p>
          <a:p>
            <a:pPr algn="l"/>
            <a:r>
              <a:rPr sz="1500" b="0">
                <a:solidFill>
                  <a:srgbClr val="FFFFFF"/>
                </a:solidFill>
              </a:rPr>
              <a:t>         •  Overview of 4NF and 5NF</a:t>
            </a:r>
          </a:p>
          <a:p>
            <a:pPr algn="l"/>
            <a:r>
              <a:rPr sz="1500" b="0">
                <a:solidFill>
                  <a:srgbClr val="FFFFFF"/>
                </a:solidFill>
              </a:rPr>
              <a:t/>
            </a:r>
          </a:p>
          <a:p>
            <a:pPr algn="l"/>
            <a:r>
              <a:rPr sz="1500" b="1">
                <a:solidFill>
                  <a:srgbClr val="FFFFFF"/>
                </a:solidFill>
              </a:rPr>
              <a:t>  📌  C. Functional Dependencies (Continuation)</a:t>
            </a:r>
          </a:p>
          <a:p>
            <a:pPr algn="l"/>
            <a:r>
              <a:rPr sz="1500" b="0">
                <a:solidFill>
                  <a:srgbClr val="FFFFFF"/>
                </a:solidFill>
              </a:rPr>
              <a:t>         •  Determinants and Dependent Attributes</a:t>
            </a:r>
          </a:p>
          <a:p>
            <a:pPr algn="l"/>
            <a:r>
              <a:rPr sz="1500" b="0">
                <a:solidFill>
                  <a:srgbClr val="FFFFFF"/>
                </a:solidFill>
              </a:rPr>
              <a:t>         •  Identifying Functional Dependencies in Tables</a:t>
            </a:r>
          </a:p>
          <a:p>
            <a:pPr algn="l"/>
            <a:r>
              <a:rPr sz="1500" b="0">
                <a:solidFill>
                  <a:srgbClr val="FFFFFF"/>
                </a:solidFill>
              </a:rPr>
              <a:t/>
            </a:r>
          </a:p>
          <a:p>
            <a:pPr algn="l"/>
            <a:r>
              <a:rPr sz="1500" b="1">
                <a:solidFill>
                  <a:srgbClr val="FFFFFF"/>
                </a:solidFill>
              </a:rPr>
              <a:t>  📌  D. Steps in the Normalization Process</a:t>
            </a:r>
          </a:p>
          <a:p>
            <a:pPr algn="l"/>
            <a:r>
              <a:rPr sz="1500" b="0">
                <a:solidFill>
                  <a:srgbClr val="FFFFFF"/>
                </a:solidFill>
              </a:rPr>
              <a:t>         •  Converting Unnormalized Data to Normalized Tables</a:t>
            </a:r>
          </a:p>
          <a:p>
            <a:pPr algn="l"/>
            <a:r>
              <a:rPr sz="1500" b="0">
                <a:solidFill>
                  <a:srgbClr val="FFFFFF"/>
                </a:solidFill>
              </a:rPr>
              <a:t>         •  Decomposition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Recap</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Where We Left Off — 1NF and 2NF</a:t>
            </a:r>
          </a:p>
        </p:txBody>
      </p:sp>
      <p:sp>
        <p:nvSpPr>
          <p:cNvPr id="8" name="Rectangle 7"/>
          <p:cNvSpPr/>
          <p:nvPr/>
        </p:nvSpPr>
        <p:spPr>
          <a:xfrm>
            <a:off x="365760" y="1234440"/>
            <a:ext cx="5394960" cy="192024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261872"/>
            <a:ext cx="5212080" cy="411480"/>
          </a:xfrm>
          <a:prstGeom prst="rect">
            <a:avLst/>
          </a:prstGeom>
          <a:noFill/>
        </p:spPr>
        <p:txBody>
          <a:bodyPr wrap="square">
            <a:spAutoFit/>
          </a:bodyPr>
          <a:lstStyle/>
          <a:p>
            <a:pPr algn="l"/>
            <a:r>
              <a:rPr sz="1600" b="1" i="0">
                <a:solidFill>
                  <a:srgbClr val="FFD166"/>
                </a:solidFill>
              </a:rPr>
              <a:t>First Normal Form (1NF)</a:t>
            </a:r>
          </a:p>
        </p:txBody>
      </p:sp>
      <p:sp>
        <p:nvSpPr>
          <p:cNvPr id="10" name="TextBox 9"/>
          <p:cNvSpPr txBox="1"/>
          <p:nvPr/>
        </p:nvSpPr>
        <p:spPr>
          <a:xfrm>
            <a:off x="457200" y="1664208"/>
            <a:ext cx="5212080" cy="1463040"/>
          </a:xfrm>
          <a:prstGeom prst="rect">
            <a:avLst/>
          </a:prstGeom>
          <a:noFill/>
        </p:spPr>
        <p:txBody>
          <a:bodyPr wrap="square">
            <a:spAutoFit/>
          </a:bodyPr>
          <a:lstStyle/>
          <a:p>
            <a:pPr algn="l"/>
            <a:r>
              <a:rPr sz="1300" b="0">
                <a:solidFill>
                  <a:srgbClr val="FFFFFF"/>
                </a:solidFill>
              </a:rPr>
              <a:t>  •  All attributes contain atomic (indivisible) values</a:t>
            </a:r>
          </a:p>
          <a:p>
            <a:pPr algn="l"/>
            <a:r>
              <a:rPr sz="1300" b="0">
                <a:solidFill>
                  <a:srgbClr val="FFFFFF"/>
                </a:solidFill>
              </a:rPr>
              <a:t>  •  No repeating groups or arrays</a:t>
            </a:r>
          </a:p>
          <a:p>
            <a:pPr algn="l"/>
            <a:r>
              <a:rPr sz="1300" b="0">
                <a:solidFill>
                  <a:srgbClr val="FFFFFF"/>
                </a:solidFill>
              </a:rPr>
              <a:t>  •  Each record is unique</a:t>
            </a:r>
          </a:p>
        </p:txBody>
      </p:sp>
      <p:sp>
        <p:nvSpPr>
          <p:cNvPr id="11" name="Rectangle 10"/>
          <p:cNvSpPr/>
          <p:nvPr/>
        </p:nvSpPr>
        <p:spPr>
          <a:xfrm>
            <a:off x="6309360" y="1234440"/>
            <a:ext cx="5394960" cy="192024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261872"/>
            <a:ext cx="5212080" cy="411480"/>
          </a:xfrm>
          <a:prstGeom prst="rect">
            <a:avLst/>
          </a:prstGeom>
          <a:noFill/>
        </p:spPr>
        <p:txBody>
          <a:bodyPr wrap="square">
            <a:spAutoFit/>
          </a:bodyPr>
          <a:lstStyle/>
          <a:p>
            <a:pPr algn="l"/>
            <a:r>
              <a:rPr sz="1600" b="1" i="0">
                <a:solidFill>
                  <a:srgbClr val="FFD166"/>
                </a:solidFill>
              </a:rPr>
              <a:t>Second Normal Form (2NF)</a:t>
            </a:r>
          </a:p>
        </p:txBody>
      </p:sp>
      <p:sp>
        <p:nvSpPr>
          <p:cNvPr id="13" name="TextBox 12"/>
          <p:cNvSpPr txBox="1"/>
          <p:nvPr/>
        </p:nvSpPr>
        <p:spPr>
          <a:xfrm>
            <a:off x="6400800" y="1664208"/>
            <a:ext cx="5212080" cy="1463040"/>
          </a:xfrm>
          <a:prstGeom prst="rect">
            <a:avLst/>
          </a:prstGeom>
          <a:noFill/>
        </p:spPr>
        <p:txBody>
          <a:bodyPr wrap="square">
            <a:spAutoFit/>
          </a:bodyPr>
          <a:lstStyle/>
          <a:p>
            <a:pPr algn="l"/>
            <a:r>
              <a:rPr sz="1300" b="0">
                <a:solidFill>
                  <a:srgbClr val="FFFFFF"/>
                </a:solidFill>
              </a:rPr>
              <a:t>  •  Must already be in 1NF</a:t>
            </a:r>
          </a:p>
          <a:p>
            <a:pPr algn="l"/>
            <a:r>
              <a:rPr sz="1300" b="0">
                <a:solidFill>
                  <a:srgbClr val="FFFFFF"/>
                </a:solidFill>
              </a:rPr>
              <a:t>  •  Every non-key attribute must be FULLY</a:t>
            </a:r>
          </a:p>
          <a:p>
            <a:pPr algn="l"/>
            <a:r>
              <a:rPr sz="1300" b="0">
                <a:solidFill>
                  <a:srgbClr val="FFFFFF"/>
                </a:solidFill>
              </a:rPr>
              <a:t>      functionally dependent on the entire PK</a:t>
            </a:r>
          </a:p>
          <a:p>
            <a:pPr algn="l"/>
            <a:r>
              <a:rPr sz="1300" b="0">
                <a:solidFill>
                  <a:srgbClr val="FFFFFF"/>
                </a:solidFill>
              </a:rPr>
              <a:t>  •  Eliminates partial dependencies</a:t>
            </a:r>
          </a:p>
        </p:txBody>
      </p:sp>
      <p:sp>
        <p:nvSpPr>
          <p:cNvPr id="14" name="TextBox 13"/>
          <p:cNvSpPr txBox="1"/>
          <p:nvPr/>
        </p:nvSpPr>
        <p:spPr>
          <a:xfrm>
            <a:off x="365760" y="3291840"/>
            <a:ext cx="11430000" cy="347472"/>
          </a:xfrm>
          <a:prstGeom prst="rect">
            <a:avLst/>
          </a:prstGeom>
          <a:noFill/>
        </p:spPr>
        <p:txBody>
          <a:bodyPr wrap="square">
            <a:spAutoFit/>
          </a:bodyPr>
          <a:lstStyle/>
          <a:p>
            <a:pPr algn="l"/>
            <a:r>
              <a:rPr sz="1300" b="1" i="0">
                <a:solidFill>
                  <a:srgbClr val="268BD2"/>
                </a:solidFill>
              </a:rPr>
              <a:t>Example of Partial Dependency (Violates 2NF):</a:t>
            </a:r>
          </a:p>
        </p:txBody>
      </p:sp>
      <p:sp>
        <p:nvSpPr>
          <p:cNvPr id="15" name="Rectangle 14"/>
          <p:cNvSpPr/>
          <p:nvPr/>
        </p:nvSpPr>
        <p:spPr>
          <a:xfrm>
            <a:off x="365760" y="3639312"/>
            <a:ext cx="11430000" cy="146304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675887"/>
            <a:ext cx="11155680" cy="1371600"/>
          </a:xfrm>
          <a:prstGeom prst="rect">
            <a:avLst/>
          </a:prstGeom>
          <a:noFill/>
        </p:spPr>
        <p:txBody>
          <a:bodyPr wrap="square">
            <a:spAutoFit/>
          </a:bodyPr>
          <a:lstStyle/>
          <a:p>
            <a:pPr algn="l"/>
            <a:r>
              <a:rPr sz="1200" b="0" i="0">
                <a:solidFill>
                  <a:srgbClr val="ECEFF4"/>
                </a:solidFill>
              </a:rPr>
              <a:t>  OrderID  |  ProductID  |  ProductName  |  Quantity
  ─────────────────────────────────────────────────────
    101     |    P01      |    Laptop     |     2
    101     |    P02      |    Mouse      |     5
  ⚠  ProductName depends only on ProductID → partial dependency!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B. Normal Forms (Part 2)</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Third Normal Form (3NF) — Definition &amp; Transitive Dependencies</a:t>
            </a:r>
          </a:p>
        </p:txBody>
      </p:sp>
      <p:sp>
        <p:nvSpPr>
          <p:cNvPr id="8" name="Rectangle 7"/>
          <p:cNvSpPr/>
          <p:nvPr/>
        </p:nvSpPr>
        <p:spPr>
          <a:xfrm>
            <a:off x="365760" y="1207008"/>
            <a:ext cx="11430000"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34440"/>
            <a:ext cx="3657600" cy="292608"/>
          </a:xfrm>
          <a:prstGeom prst="rect">
            <a:avLst/>
          </a:prstGeom>
          <a:noFill/>
        </p:spPr>
        <p:txBody>
          <a:bodyPr wrap="square">
            <a:spAutoFit/>
          </a:bodyPr>
          <a:lstStyle/>
          <a:p>
            <a:pPr algn="l"/>
            <a:r>
              <a:rPr sz="1400" b="1" i="0">
                <a:solidFill>
                  <a:srgbClr val="FFD166"/>
                </a:solidFill>
              </a:rPr>
              <a:t>Definition</a:t>
            </a:r>
          </a:p>
        </p:txBody>
      </p:sp>
      <p:sp>
        <p:nvSpPr>
          <p:cNvPr id="10" name="TextBox 9"/>
          <p:cNvSpPr txBox="1"/>
          <p:nvPr/>
        </p:nvSpPr>
        <p:spPr>
          <a:xfrm>
            <a:off x="502920" y="1527048"/>
            <a:ext cx="11155680" cy="530352"/>
          </a:xfrm>
          <a:prstGeom prst="rect">
            <a:avLst/>
          </a:prstGeom>
          <a:noFill/>
        </p:spPr>
        <p:txBody>
          <a:bodyPr wrap="square">
            <a:spAutoFit/>
          </a:bodyPr>
          <a:lstStyle/>
          <a:p>
            <a:pPr algn="l"/>
            <a:r>
              <a:rPr sz="1300" b="0" i="0">
                <a:solidFill>
                  <a:srgbClr val="FFFFFF"/>
                </a:solidFill>
              </a:rPr>
              <a:t>In 3NF: (1) Must be in 2NF, AND (2) Every non-key attribute is NON-TRANSITIVELY dependent on the PK.
Mnemonic: '...the KEY, the WHOLE KEY, and NOTHING BUT THE KEY.'</a:t>
            </a:r>
          </a:p>
        </p:txBody>
      </p:sp>
      <p:sp>
        <p:nvSpPr>
          <p:cNvPr id="11" name="TextBox 10"/>
          <p:cNvSpPr txBox="1"/>
          <p:nvPr/>
        </p:nvSpPr>
        <p:spPr>
          <a:xfrm>
            <a:off x="365760" y="2121408"/>
            <a:ext cx="11430000" cy="292608"/>
          </a:xfrm>
          <a:prstGeom prst="rect">
            <a:avLst/>
          </a:prstGeom>
          <a:noFill/>
        </p:spPr>
        <p:txBody>
          <a:bodyPr wrap="square">
            <a:spAutoFit/>
          </a:bodyPr>
          <a:lstStyle/>
          <a:p>
            <a:pPr algn="l"/>
            <a:r>
              <a:rPr sz="1300" b="1" i="0">
                <a:solidFill>
                  <a:srgbClr val="268BD2"/>
                </a:solidFill>
              </a:rPr>
              <a:t>Transitive Dependency: If  A → B  and  B → C,  then  A → C  is TRANSITIVE.</a:t>
            </a:r>
          </a:p>
        </p:txBody>
      </p:sp>
      <p:sp>
        <p:nvSpPr>
          <p:cNvPr id="12" name="TextBox 11"/>
          <p:cNvSpPr txBox="1"/>
          <p:nvPr/>
        </p:nvSpPr>
        <p:spPr>
          <a:xfrm>
            <a:off x="365760" y="2450592"/>
            <a:ext cx="4572000" cy="274320"/>
          </a:xfrm>
          <a:prstGeom prst="rect">
            <a:avLst/>
          </a:prstGeom>
          <a:noFill/>
        </p:spPr>
        <p:txBody>
          <a:bodyPr wrap="square">
            <a:spAutoFit/>
          </a:bodyPr>
          <a:lstStyle/>
          <a:p>
            <a:pPr algn="l"/>
            <a:r>
              <a:rPr sz="1200" b="1" i="0">
                <a:solidFill>
                  <a:srgbClr val="268BD2"/>
                </a:solidFill>
              </a:rPr>
              <a:t>Violating Table:</a:t>
            </a:r>
          </a:p>
        </p:txBody>
      </p:sp>
      <p:sp>
        <p:nvSpPr>
          <p:cNvPr id="13" name="Rectangle 12"/>
          <p:cNvSpPr/>
          <p:nvPr/>
        </p:nvSpPr>
        <p:spPr>
          <a:xfrm>
            <a:off x="365760" y="2724912"/>
            <a:ext cx="11430000" cy="68580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743200"/>
            <a:ext cx="11155680" cy="640080"/>
          </a:xfrm>
          <a:prstGeom prst="rect">
            <a:avLst/>
          </a:prstGeom>
          <a:noFill/>
        </p:spPr>
        <p:txBody>
          <a:bodyPr wrap="square">
            <a:spAutoFit/>
          </a:bodyPr>
          <a:lstStyle/>
          <a:p>
            <a:pPr algn="l"/>
            <a:r>
              <a:rPr sz="1100" b="0" i="0">
                <a:solidFill>
                  <a:srgbClr val="ECEFF4"/>
                </a:solidFill>
              </a:rPr>
              <a:t>  StudentID  |  StudentName  |  DeptID  |  DeptName
  ──────────────────────────────────────────────────────
    S001      |    Alice      |   D01    |  Computer Science</a:t>
            </a:r>
          </a:p>
        </p:txBody>
      </p:sp>
      <p:sp>
        <p:nvSpPr>
          <p:cNvPr id="15" name="TextBox 14"/>
          <p:cNvSpPr txBox="1"/>
          <p:nvPr/>
        </p:nvSpPr>
        <p:spPr>
          <a:xfrm>
            <a:off x="365760" y="3493008"/>
            <a:ext cx="7772400" cy="777240"/>
          </a:xfrm>
          <a:prstGeom prst="rect">
            <a:avLst/>
          </a:prstGeom>
          <a:noFill/>
        </p:spPr>
        <p:txBody>
          <a:bodyPr wrap="square">
            <a:spAutoFit/>
          </a:bodyPr>
          <a:lstStyle/>
          <a:p>
            <a:pPr algn="l"/>
            <a:r>
              <a:rPr sz="1200" b="0">
                <a:solidFill>
                  <a:srgbClr val="FFFFFF"/>
                </a:solidFill>
              </a:rPr>
              <a:t>  StudentID  →  DeptID          ✅  direct</a:t>
            </a:r>
          </a:p>
          <a:p>
            <a:pPr algn="l"/>
            <a:r>
              <a:rPr sz="1200" b="0">
                <a:solidFill>
                  <a:srgbClr val="FFFFFF"/>
                </a:solidFill>
              </a:rPr>
              <a:t>  DeptID     →  DeptName        ✅  direct</a:t>
            </a:r>
          </a:p>
          <a:p>
            <a:pPr algn="l"/>
            <a:r>
              <a:rPr sz="1200" b="1">
                <a:solidFill>
                  <a:srgbClr val="FFD166"/>
                </a:solidFill>
              </a:rPr>
              <a:t>  StudentID  →  DeptName        ❌  TRANSITIVE DEPENDENCY!</a:t>
            </a:r>
          </a:p>
        </p:txBody>
      </p:sp>
      <p:sp>
        <p:nvSpPr>
          <p:cNvPr id="16" name="Rectangle 15"/>
          <p:cNvSpPr/>
          <p:nvPr/>
        </p:nvSpPr>
        <p:spPr>
          <a:xfrm>
            <a:off x="8138160" y="3493008"/>
            <a:ext cx="3657600" cy="777240"/>
          </a:xfrm>
          <a:prstGeom prst="rect">
            <a:avLst/>
          </a:prstGeom>
          <a:solidFill>
            <a:srgbClr val="4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3511296"/>
            <a:ext cx="3474720" cy="256032"/>
          </a:xfrm>
          <a:prstGeom prst="rect">
            <a:avLst/>
          </a:prstGeom>
          <a:noFill/>
        </p:spPr>
        <p:txBody>
          <a:bodyPr wrap="square">
            <a:spAutoFit/>
          </a:bodyPr>
          <a:lstStyle/>
          <a:p>
            <a:pPr algn="l"/>
            <a:r>
              <a:rPr sz="1200" b="1" i="0">
                <a:solidFill>
                  <a:srgbClr val="E74C3C"/>
                </a:solidFill>
              </a:rPr>
              <a:t>Anomalies:</a:t>
            </a:r>
          </a:p>
        </p:txBody>
      </p:sp>
      <p:sp>
        <p:nvSpPr>
          <p:cNvPr id="18" name="TextBox 17"/>
          <p:cNvSpPr txBox="1"/>
          <p:nvPr/>
        </p:nvSpPr>
        <p:spPr>
          <a:xfrm>
            <a:off x="8229600" y="3767328"/>
            <a:ext cx="3474720" cy="475488"/>
          </a:xfrm>
          <a:prstGeom prst="rect">
            <a:avLst/>
          </a:prstGeom>
          <a:noFill/>
        </p:spPr>
        <p:txBody>
          <a:bodyPr wrap="square">
            <a:spAutoFit/>
          </a:bodyPr>
          <a:lstStyle/>
          <a:p>
            <a:pPr algn="l"/>
            <a:r>
              <a:rPr sz="1100" b="0">
                <a:solidFill>
                  <a:srgbClr val="FFFFFF"/>
                </a:solidFill>
              </a:rPr>
              <a:t>  ⚠  Update Anomaly</a:t>
            </a:r>
          </a:p>
          <a:p>
            <a:pPr algn="l"/>
            <a:r>
              <a:rPr sz="1100" b="0">
                <a:solidFill>
                  <a:srgbClr val="FFFFFF"/>
                </a:solidFill>
              </a:rPr>
              <a:t>  ⚠  Deletion Anomaly</a:t>
            </a:r>
          </a:p>
          <a:p>
            <a:pPr algn="l"/>
            <a:r>
              <a:rPr sz="1100" b="0">
                <a:solidFill>
                  <a:srgbClr val="FFFFFF"/>
                </a:solidFill>
              </a:rPr>
              <a:t>  ⚠  Insertion Anomaly</a:t>
            </a:r>
          </a:p>
        </p:txBody>
      </p:sp>
      <p:sp>
        <p:nvSpPr>
          <p:cNvPr id="19" name="TextBox 18"/>
          <p:cNvSpPr txBox="1"/>
          <p:nvPr/>
        </p:nvSpPr>
        <p:spPr>
          <a:xfrm>
            <a:off x="365760" y="4352544"/>
            <a:ext cx="7315200" cy="274320"/>
          </a:xfrm>
          <a:prstGeom prst="rect">
            <a:avLst/>
          </a:prstGeom>
          <a:noFill/>
        </p:spPr>
        <p:txBody>
          <a:bodyPr wrap="square">
            <a:spAutoFit/>
          </a:bodyPr>
          <a:lstStyle/>
          <a:p>
            <a:pPr algn="l"/>
            <a:r>
              <a:rPr sz="1200" b="1" i="0">
                <a:solidFill>
                  <a:srgbClr val="2ECC71"/>
                </a:solidFill>
              </a:rPr>
              <a:t>✅  Solution — Decompose into 2 tables:</a:t>
            </a:r>
          </a:p>
        </p:txBody>
      </p:sp>
      <p:sp>
        <p:nvSpPr>
          <p:cNvPr id="20" name="Rectangle 19"/>
          <p:cNvSpPr/>
          <p:nvPr/>
        </p:nvSpPr>
        <p:spPr>
          <a:xfrm>
            <a:off x="365760" y="4645152"/>
            <a:ext cx="5303520" cy="530352"/>
          </a:xfrm>
          <a:prstGeom prst="rect">
            <a:avLst/>
          </a:prstGeom>
          <a:solidFill>
            <a:srgbClr val="0D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4663440"/>
            <a:ext cx="5120640" cy="457200"/>
          </a:xfrm>
          <a:prstGeom prst="rect">
            <a:avLst/>
          </a:prstGeom>
          <a:noFill/>
        </p:spPr>
        <p:txBody>
          <a:bodyPr wrap="square">
            <a:spAutoFit/>
          </a:bodyPr>
          <a:lstStyle/>
          <a:p>
            <a:pPr algn="l"/>
            <a:r>
              <a:rPr sz="1100" b="0" i="0">
                <a:solidFill>
                  <a:srgbClr val="FFFFFF"/>
                </a:solidFill>
              </a:rPr>
              <a:t>Student Table:  StudentID | StudentName | DeptID</a:t>
            </a:r>
          </a:p>
        </p:txBody>
      </p:sp>
      <p:sp>
        <p:nvSpPr>
          <p:cNvPr id="22" name="Rectangle 21"/>
          <p:cNvSpPr/>
          <p:nvPr/>
        </p:nvSpPr>
        <p:spPr>
          <a:xfrm>
            <a:off x="6492240" y="4645152"/>
            <a:ext cx="5303520" cy="530352"/>
          </a:xfrm>
          <a:prstGeom prst="rect">
            <a:avLst/>
          </a:prstGeom>
          <a:solidFill>
            <a:srgbClr val="0D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4663440"/>
            <a:ext cx="5120640" cy="457200"/>
          </a:xfrm>
          <a:prstGeom prst="rect">
            <a:avLst/>
          </a:prstGeom>
          <a:noFill/>
        </p:spPr>
        <p:txBody>
          <a:bodyPr wrap="square">
            <a:spAutoFit/>
          </a:bodyPr>
          <a:lstStyle/>
          <a:p>
            <a:pPr algn="l"/>
            <a:r>
              <a:rPr sz="1100" b="0" i="0">
                <a:solidFill>
                  <a:srgbClr val="FFFFFF"/>
                </a:solidFill>
              </a:rPr>
              <a:t>Department Table:  DeptID | DeptName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B. Normal Forms (Part 2)</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Boyce-Codd Normal Form (BCNF) — A Stronger 3NF</a:t>
            </a:r>
          </a:p>
        </p:txBody>
      </p:sp>
      <p:sp>
        <p:nvSpPr>
          <p:cNvPr id="8" name="Rectangle 7"/>
          <p:cNvSpPr/>
          <p:nvPr/>
        </p:nvSpPr>
        <p:spPr>
          <a:xfrm>
            <a:off x="365760" y="1207008"/>
            <a:ext cx="11430000" cy="658368"/>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25296"/>
            <a:ext cx="11155680" cy="621792"/>
          </a:xfrm>
          <a:prstGeom prst="rect">
            <a:avLst/>
          </a:prstGeom>
          <a:noFill/>
        </p:spPr>
        <p:txBody>
          <a:bodyPr wrap="square">
            <a:spAutoFit/>
          </a:bodyPr>
          <a:lstStyle/>
          <a:p>
            <a:pPr algn="l"/>
            <a:r>
              <a:rPr sz="1300" b="0" i="0">
                <a:solidFill>
                  <a:srgbClr val="FFFFFF"/>
                </a:solidFill>
              </a:rPr>
              <a:t>BCNF: For every FD  X → Y,  X must be a SUPERKEY.  BCNF closes the 3NF loophole where a prime attribute depends on a non-superkey.</a:t>
            </a:r>
          </a:p>
        </p:txBody>
      </p:sp>
      <p:sp>
        <p:nvSpPr>
          <p:cNvPr id="10" name="TextBox 9"/>
          <p:cNvSpPr txBox="1"/>
          <p:nvPr/>
        </p:nvSpPr>
        <p:spPr>
          <a:xfrm>
            <a:off x="365760" y="1920240"/>
            <a:ext cx="5486400" cy="274320"/>
          </a:xfrm>
          <a:prstGeom prst="rect">
            <a:avLst/>
          </a:prstGeom>
          <a:noFill/>
        </p:spPr>
        <p:txBody>
          <a:bodyPr wrap="square">
            <a:spAutoFit/>
          </a:bodyPr>
          <a:lstStyle/>
          <a:p>
            <a:pPr algn="l"/>
            <a:r>
              <a:rPr sz="1300" b="1" i="0">
                <a:solidFill>
                  <a:srgbClr val="268BD2"/>
                </a:solidFill>
              </a:rPr>
              <a:t>Example — Enrollment Table:</a:t>
            </a:r>
          </a:p>
        </p:txBody>
      </p:sp>
      <p:sp>
        <p:nvSpPr>
          <p:cNvPr id="11" name="Rectangle 10"/>
          <p:cNvSpPr/>
          <p:nvPr/>
        </p:nvSpPr>
        <p:spPr>
          <a:xfrm>
            <a:off x="365760" y="2194560"/>
            <a:ext cx="5669280" cy="77724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212848"/>
            <a:ext cx="5486400" cy="731520"/>
          </a:xfrm>
          <a:prstGeom prst="rect">
            <a:avLst/>
          </a:prstGeom>
          <a:noFill/>
        </p:spPr>
        <p:txBody>
          <a:bodyPr wrap="square">
            <a:spAutoFit/>
          </a:bodyPr>
          <a:lstStyle/>
          <a:p>
            <a:pPr algn="l"/>
            <a:r>
              <a:rPr sz="1100" b="0" i="0">
                <a:solidFill>
                  <a:srgbClr val="FFFFFF"/>
                </a:solidFill>
              </a:rPr>
              <a:t>  StudentID  |  Course    |  Professor
  ─────────────────────────────────────────
    S001      |  DBMS      |  Dr. Smith</a:t>
            </a:r>
          </a:p>
        </p:txBody>
      </p:sp>
      <p:sp>
        <p:nvSpPr>
          <p:cNvPr id="13" name="TextBox 12"/>
          <p:cNvSpPr txBox="1"/>
          <p:nvPr/>
        </p:nvSpPr>
        <p:spPr>
          <a:xfrm>
            <a:off x="6263640" y="1920240"/>
            <a:ext cx="5303520" cy="274320"/>
          </a:xfrm>
          <a:prstGeom prst="rect">
            <a:avLst/>
          </a:prstGeom>
          <a:noFill/>
        </p:spPr>
        <p:txBody>
          <a:bodyPr wrap="square">
            <a:spAutoFit/>
          </a:bodyPr>
          <a:lstStyle/>
          <a:p>
            <a:pPr algn="l"/>
            <a:r>
              <a:rPr sz="1300" b="1" i="0">
                <a:solidFill>
                  <a:srgbClr val="268BD2"/>
                </a:solidFill>
              </a:rPr>
              <a:t>Functional Dependencies:</a:t>
            </a:r>
          </a:p>
        </p:txBody>
      </p:sp>
      <p:sp>
        <p:nvSpPr>
          <p:cNvPr id="14" name="TextBox 13"/>
          <p:cNvSpPr txBox="1"/>
          <p:nvPr/>
        </p:nvSpPr>
        <p:spPr>
          <a:xfrm>
            <a:off x="6263640" y="2194560"/>
            <a:ext cx="5303520" cy="777240"/>
          </a:xfrm>
          <a:prstGeom prst="rect">
            <a:avLst/>
          </a:prstGeom>
          <a:noFill/>
        </p:spPr>
        <p:txBody>
          <a:bodyPr wrap="square">
            <a:spAutoFit/>
          </a:bodyPr>
          <a:lstStyle/>
          <a:p>
            <a:pPr algn="l"/>
            <a:r>
              <a:rPr sz="1100" b="0">
                <a:solidFill>
                  <a:srgbClr val="FFFFFF"/>
                </a:solidFill>
              </a:rPr>
              <a:t>  {StudentID, Course} →  Professor  (composite PK)</a:t>
            </a:r>
          </a:p>
          <a:p>
            <a:pPr algn="l"/>
            <a:r>
              <a:rPr sz="1100" b="0">
                <a:solidFill>
                  <a:srgbClr val="FFFFFF"/>
                </a:solidFill>
              </a:rPr>
              <a:t>  {StudentID, Prof}   →  Course     (candidate key)</a:t>
            </a:r>
          </a:p>
          <a:p>
            <a:pPr algn="l"/>
            <a:r>
              <a:rPr sz="1100" b="1">
                <a:solidFill>
                  <a:srgbClr val="FFD166"/>
                </a:solidFill>
              </a:rPr>
              <a:t>  Professor           →  Course     ⚠ BCNF Violation!</a:t>
            </a:r>
          </a:p>
        </p:txBody>
      </p:sp>
      <p:sp>
        <p:nvSpPr>
          <p:cNvPr id="15" name="Rectangle 14"/>
          <p:cNvSpPr/>
          <p:nvPr/>
        </p:nvSpPr>
        <p:spPr>
          <a:xfrm>
            <a:off x="365760" y="3035808"/>
            <a:ext cx="11430000" cy="502920"/>
          </a:xfrm>
          <a:prstGeom prst="rect">
            <a:avLst/>
          </a:prstGeom>
          <a:solidFill>
            <a:srgbClr val="402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063240"/>
            <a:ext cx="11155680" cy="457200"/>
          </a:xfrm>
          <a:prstGeom prst="rect">
            <a:avLst/>
          </a:prstGeom>
          <a:noFill/>
        </p:spPr>
        <p:txBody>
          <a:bodyPr wrap="square">
            <a:spAutoFit/>
          </a:bodyPr>
          <a:lstStyle/>
          <a:p>
            <a:pPr algn="l"/>
            <a:r>
              <a:rPr sz="1200" b="1" i="0">
                <a:solidFill>
                  <a:srgbClr val="FFD166"/>
                </a:solidFill>
              </a:rPr>
              <a:t>⚠  Professor → Course holds but Professor is NOT a superkey. It IS in 3NF (Professor is prime) but FAILS BCNF.</a:t>
            </a:r>
          </a:p>
        </p:txBody>
      </p:sp>
      <p:sp>
        <p:nvSpPr>
          <p:cNvPr id="17" name="TextBox 16"/>
          <p:cNvSpPr txBox="1"/>
          <p:nvPr/>
        </p:nvSpPr>
        <p:spPr>
          <a:xfrm>
            <a:off x="365760" y="3611880"/>
            <a:ext cx="11430000" cy="274320"/>
          </a:xfrm>
          <a:prstGeom prst="rect">
            <a:avLst/>
          </a:prstGeom>
          <a:noFill/>
        </p:spPr>
        <p:txBody>
          <a:bodyPr wrap="square">
            <a:spAutoFit/>
          </a:bodyPr>
          <a:lstStyle/>
          <a:p>
            <a:pPr algn="l"/>
            <a:r>
              <a:rPr sz="1200" b="1" i="0">
                <a:solidFill>
                  <a:srgbClr val="2ECC71"/>
                </a:solidFill>
              </a:rPr>
              <a:t>✅  Decompose:  ProfessorCourse (Professor | Course)  +  StudentProfessor (StudentID | Professor)</a:t>
            </a:r>
          </a:p>
        </p:txBody>
      </p:sp>
      <p:sp>
        <p:nvSpPr>
          <p:cNvPr id="18" name="TextBox 17"/>
          <p:cNvSpPr txBox="1"/>
          <p:nvPr/>
        </p:nvSpPr>
        <p:spPr>
          <a:xfrm>
            <a:off x="365760" y="3950208"/>
            <a:ext cx="3657600" cy="274320"/>
          </a:xfrm>
          <a:prstGeom prst="rect">
            <a:avLst/>
          </a:prstGeom>
          <a:noFill/>
        </p:spPr>
        <p:txBody>
          <a:bodyPr wrap="square">
            <a:spAutoFit/>
          </a:bodyPr>
          <a:lstStyle/>
          <a:p>
            <a:pPr algn="l"/>
            <a:r>
              <a:rPr sz="1300" b="1" i="0">
                <a:solidFill>
                  <a:srgbClr val="268BD2"/>
                </a:solidFill>
              </a:rPr>
              <a:t>3NF vs BCNF:</a:t>
            </a:r>
          </a:p>
        </p:txBody>
      </p:sp>
      <p:sp>
        <p:nvSpPr>
          <p:cNvPr id="19" name="Rectangle 18"/>
          <p:cNvSpPr/>
          <p:nvPr/>
        </p:nvSpPr>
        <p:spPr>
          <a:xfrm>
            <a:off x="365760" y="4224528"/>
            <a:ext cx="11430000" cy="32004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4233672"/>
            <a:ext cx="5943600" cy="301752"/>
          </a:xfrm>
          <a:prstGeom prst="rect">
            <a:avLst/>
          </a:prstGeom>
          <a:noFill/>
        </p:spPr>
        <p:txBody>
          <a:bodyPr wrap="square">
            <a:spAutoFit/>
          </a:bodyPr>
          <a:lstStyle/>
          <a:p>
            <a:pPr algn="l"/>
            <a:r>
              <a:rPr sz="1200" b="1" i="0">
                <a:solidFill>
                  <a:srgbClr val="FFD166"/>
                </a:solidFill>
              </a:rPr>
              <a:t>Criteria</a:t>
            </a:r>
          </a:p>
        </p:txBody>
      </p:sp>
      <p:sp>
        <p:nvSpPr>
          <p:cNvPr id="21" name="TextBox 20"/>
          <p:cNvSpPr txBox="1"/>
          <p:nvPr/>
        </p:nvSpPr>
        <p:spPr>
          <a:xfrm>
            <a:off x="6492240" y="4233672"/>
            <a:ext cx="2468880" cy="301752"/>
          </a:xfrm>
          <a:prstGeom prst="rect">
            <a:avLst/>
          </a:prstGeom>
          <a:noFill/>
        </p:spPr>
        <p:txBody>
          <a:bodyPr wrap="square">
            <a:spAutoFit/>
          </a:bodyPr>
          <a:lstStyle/>
          <a:p>
            <a:pPr algn="l"/>
            <a:r>
              <a:rPr sz="1200" b="1" i="0">
                <a:solidFill>
                  <a:srgbClr val="FFD166"/>
                </a:solidFill>
              </a:rPr>
              <a:t>3NF</a:t>
            </a:r>
          </a:p>
        </p:txBody>
      </p:sp>
      <p:sp>
        <p:nvSpPr>
          <p:cNvPr id="22" name="TextBox 21"/>
          <p:cNvSpPr txBox="1"/>
          <p:nvPr/>
        </p:nvSpPr>
        <p:spPr>
          <a:xfrm>
            <a:off x="9098280" y="4233672"/>
            <a:ext cx="2468880" cy="301752"/>
          </a:xfrm>
          <a:prstGeom prst="rect">
            <a:avLst/>
          </a:prstGeom>
          <a:noFill/>
        </p:spPr>
        <p:txBody>
          <a:bodyPr wrap="square">
            <a:spAutoFit/>
          </a:bodyPr>
          <a:lstStyle/>
          <a:p>
            <a:pPr algn="l"/>
            <a:r>
              <a:rPr sz="1200" b="1" i="0">
                <a:solidFill>
                  <a:srgbClr val="FFD166"/>
                </a:solidFill>
              </a:rPr>
              <a:t>BCNF</a:t>
            </a:r>
          </a:p>
        </p:txBody>
      </p:sp>
      <p:sp>
        <p:nvSpPr>
          <p:cNvPr id="23" name="Rectangle 22"/>
          <p:cNvSpPr/>
          <p:nvPr/>
        </p:nvSpPr>
        <p:spPr>
          <a:xfrm>
            <a:off x="365760" y="4544568"/>
            <a:ext cx="5943600" cy="301752"/>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4562855"/>
            <a:ext cx="5852160" cy="265176"/>
          </a:xfrm>
          <a:prstGeom prst="rect">
            <a:avLst/>
          </a:prstGeom>
          <a:noFill/>
        </p:spPr>
        <p:txBody>
          <a:bodyPr wrap="square">
            <a:spAutoFit/>
          </a:bodyPr>
          <a:lstStyle/>
          <a:p>
            <a:pPr algn="l"/>
            <a:r>
              <a:rPr sz="1100" b="0" i="0">
                <a:solidFill>
                  <a:srgbClr val="FFFFFF"/>
                </a:solidFill>
              </a:rPr>
              <a:t>  Removes partial &amp; transitive dependencies</a:t>
            </a:r>
          </a:p>
        </p:txBody>
      </p:sp>
      <p:sp>
        <p:nvSpPr>
          <p:cNvPr id="25" name="Rectangle 24"/>
          <p:cNvSpPr/>
          <p:nvPr/>
        </p:nvSpPr>
        <p:spPr>
          <a:xfrm>
            <a:off x="6446520" y="4544568"/>
            <a:ext cx="2468880" cy="301752"/>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0" y="4562855"/>
            <a:ext cx="2377440" cy="265176"/>
          </a:xfrm>
          <a:prstGeom prst="rect">
            <a:avLst/>
          </a:prstGeom>
          <a:noFill/>
        </p:spPr>
        <p:txBody>
          <a:bodyPr wrap="square">
            <a:spAutoFit/>
          </a:bodyPr>
          <a:lstStyle/>
          <a:p>
            <a:pPr algn="l"/>
            <a:r>
              <a:rPr sz="1100" b="0" i="0">
                <a:solidFill>
                  <a:srgbClr val="2ECC71"/>
                </a:solidFill>
              </a:rPr>
              <a:t>  ✅</a:t>
            </a:r>
          </a:p>
        </p:txBody>
      </p:sp>
      <p:sp>
        <p:nvSpPr>
          <p:cNvPr id="27" name="Rectangle 26"/>
          <p:cNvSpPr/>
          <p:nvPr/>
        </p:nvSpPr>
        <p:spPr>
          <a:xfrm>
            <a:off x="9052560" y="4544568"/>
            <a:ext cx="2468880" cy="301752"/>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8280" y="4562855"/>
            <a:ext cx="2377440" cy="265176"/>
          </a:xfrm>
          <a:prstGeom prst="rect">
            <a:avLst/>
          </a:prstGeom>
          <a:noFill/>
        </p:spPr>
        <p:txBody>
          <a:bodyPr wrap="square">
            <a:spAutoFit/>
          </a:bodyPr>
          <a:lstStyle/>
          <a:p>
            <a:pPr algn="l"/>
            <a:r>
              <a:rPr sz="1100" b="0" i="0">
                <a:solidFill>
                  <a:srgbClr val="2ECC71"/>
                </a:solidFill>
              </a:rPr>
              <a:t>  ✅</a:t>
            </a:r>
          </a:p>
        </p:txBody>
      </p:sp>
      <p:sp>
        <p:nvSpPr>
          <p:cNvPr id="29" name="Rectangle 28"/>
          <p:cNvSpPr/>
          <p:nvPr/>
        </p:nvSpPr>
        <p:spPr>
          <a:xfrm>
            <a:off x="365760" y="4846320"/>
            <a:ext cx="5943600" cy="301752"/>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864607"/>
            <a:ext cx="5852160" cy="265176"/>
          </a:xfrm>
          <a:prstGeom prst="rect">
            <a:avLst/>
          </a:prstGeom>
          <a:noFill/>
        </p:spPr>
        <p:txBody>
          <a:bodyPr wrap="square">
            <a:spAutoFit/>
          </a:bodyPr>
          <a:lstStyle/>
          <a:p>
            <a:pPr algn="l"/>
            <a:r>
              <a:rPr sz="1100" b="0" i="0">
                <a:solidFill>
                  <a:srgbClr val="FFFFFF"/>
                </a:solidFill>
              </a:rPr>
              <a:t>  Removes anomalies from prime attr FDs</a:t>
            </a:r>
          </a:p>
        </p:txBody>
      </p:sp>
      <p:sp>
        <p:nvSpPr>
          <p:cNvPr id="31" name="Rectangle 30"/>
          <p:cNvSpPr/>
          <p:nvPr/>
        </p:nvSpPr>
        <p:spPr>
          <a:xfrm>
            <a:off x="6446520" y="4846320"/>
            <a:ext cx="2468880" cy="301752"/>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4864607"/>
            <a:ext cx="2377440" cy="265176"/>
          </a:xfrm>
          <a:prstGeom prst="rect">
            <a:avLst/>
          </a:prstGeom>
          <a:noFill/>
        </p:spPr>
        <p:txBody>
          <a:bodyPr wrap="square">
            <a:spAutoFit/>
          </a:bodyPr>
          <a:lstStyle/>
          <a:p>
            <a:pPr algn="l"/>
            <a:r>
              <a:rPr sz="1100" b="0" i="0">
                <a:solidFill>
                  <a:srgbClr val="E74C3C"/>
                </a:solidFill>
              </a:rPr>
              <a:t>  ❌</a:t>
            </a:r>
          </a:p>
        </p:txBody>
      </p:sp>
      <p:sp>
        <p:nvSpPr>
          <p:cNvPr id="33" name="Rectangle 32"/>
          <p:cNvSpPr/>
          <p:nvPr/>
        </p:nvSpPr>
        <p:spPr>
          <a:xfrm>
            <a:off x="9052560" y="4846320"/>
            <a:ext cx="2468880" cy="301752"/>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98280" y="4864607"/>
            <a:ext cx="2377440" cy="265176"/>
          </a:xfrm>
          <a:prstGeom prst="rect">
            <a:avLst/>
          </a:prstGeom>
          <a:noFill/>
        </p:spPr>
        <p:txBody>
          <a:bodyPr wrap="square">
            <a:spAutoFit/>
          </a:bodyPr>
          <a:lstStyle/>
          <a:p>
            <a:pPr algn="l"/>
            <a:r>
              <a:rPr sz="1100" b="0" i="0">
                <a:solidFill>
                  <a:srgbClr val="2ECC71"/>
                </a:solidFill>
              </a:rPr>
              <a:t>  ✅</a:t>
            </a:r>
          </a:p>
        </p:txBody>
      </p:sp>
      <p:sp>
        <p:nvSpPr>
          <p:cNvPr id="35" name="Rectangle 34"/>
          <p:cNvSpPr/>
          <p:nvPr/>
        </p:nvSpPr>
        <p:spPr>
          <a:xfrm>
            <a:off x="365760" y="5148072"/>
            <a:ext cx="5943600" cy="301752"/>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5166359"/>
            <a:ext cx="5852160" cy="265176"/>
          </a:xfrm>
          <a:prstGeom prst="rect">
            <a:avLst/>
          </a:prstGeom>
          <a:noFill/>
        </p:spPr>
        <p:txBody>
          <a:bodyPr wrap="square">
            <a:spAutoFit/>
          </a:bodyPr>
          <a:lstStyle/>
          <a:p>
            <a:pPr algn="l"/>
            <a:r>
              <a:rPr sz="1100" b="0" i="0">
                <a:solidFill>
                  <a:srgbClr val="FFFFFF"/>
                </a:solidFill>
              </a:rPr>
              <a:t>  Always dependency-preserving</a:t>
            </a:r>
          </a:p>
        </p:txBody>
      </p:sp>
      <p:sp>
        <p:nvSpPr>
          <p:cNvPr id="37" name="Rectangle 36"/>
          <p:cNvSpPr/>
          <p:nvPr/>
        </p:nvSpPr>
        <p:spPr>
          <a:xfrm>
            <a:off x="6446520" y="5148072"/>
            <a:ext cx="2468880" cy="301752"/>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0" y="5166359"/>
            <a:ext cx="2377440" cy="265176"/>
          </a:xfrm>
          <a:prstGeom prst="rect">
            <a:avLst/>
          </a:prstGeom>
          <a:noFill/>
        </p:spPr>
        <p:txBody>
          <a:bodyPr wrap="square">
            <a:spAutoFit/>
          </a:bodyPr>
          <a:lstStyle/>
          <a:p>
            <a:pPr algn="l"/>
            <a:r>
              <a:rPr sz="1100" b="0" i="0">
                <a:solidFill>
                  <a:srgbClr val="2ECC71"/>
                </a:solidFill>
              </a:rPr>
              <a:t>  ✅</a:t>
            </a:r>
          </a:p>
        </p:txBody>
      </p:sp>
      <p:sp>
        <p:nvSpPr>
          <p:cNvPr id="39" name="Rectangle 38"/>
          <p:cNvSpPr/>
          <p:nvPr/>
        </p:nvSpPr>
        <p:spPr>
          <a:xfrm>
            <a:off x="9052560" y="5148072"/>
            <a:ext cx="2468880" cy="301752"/>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98280" y="5166359"/>
            <a:ext cx="2377440" cy="265176"/>
          </a:xfrm>
          <a:prstGeom prst="rect">
            <a:avLst/>
          </a:prstGeom>
          <a:noFill/>
        </p:spPr>
        <p:txBody>
          <a:bodyPr wrap="square">
            <a:spAutoFit/>
          </a:bodyPr>
          <a:lstStyle/>
          <a:p>
            <a:pPr algn="l"/>
            <a:r>
              <a:rPr sz="1100" b="0" i="0">
                <a:solidFill>
                  <a:srgbClr val="E74C3C"/>
                </a:solidFill>
              </a:rPr>
              <a:t>  ❌  (sometimes)</a:t>
            </a:r>
          </a:p>
        </p:txBody>
      </p:sp>
      <p:sp>
        <p:nvSpPr>
          <p:cNvPr id="41" name="Rectangle 40"/>
          <p:cNvSpPr/>
          <p:nvPr/>
        </p:nvSpPr>
        <p:spPr>
          <a:xfrm>
            <a:off x="365760" y="5449824"/>
            <a:ext cx="5943600" cy="301752"/>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5468112"/>
            <a:ext cx="5852160" cy="265176"/>
          </a:xfrm>
          <a:prstGeom prst="rect">
            <a:avLst/>
          </a:prstGeom>
          <a:noFill/>
        </p:spPr>
        <p:txBody>
          <a:bodyPr wrap="square">
            <a:spAutoFit/>
          </a:bodyPr>
          <a:lstStyle/>
          <a:p>
            <a:pPr algn="l"/>
            <a:r>
              <a:rPr sz="1100" b="0" i="0">
                <a:solidFill>
                  <a:srgbClr val="FFFFFF"/>
                </a:solidFill>
              </a:rPr>
              <a:t>  Use when</a:t>
            </a:r>
          </a:p>
        </p:txBody>
      </p:sp>
      <p:sp>
        <p:nvSpPr>
          <p:cNvPr id="43" name="Rectangle 42"/>
          <p:cNvSpPr/>
          <p:nvPr/>
        </p:nvSpPr>
        <p:spPr>
          <a:xfrm>
            <a:off x="6446520" y="5449824"/>
            <a:ext cx="2468880" cy="301752"/>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5468112"/>
            <a:ext cx="2377440" cy="265176"/>
          </a:xfrm>
          <a:prstGeom prst="rect">
            <a:avLst/>
          </a:prstGeom>
          <a:noFill/>
        </p:spPr>
        <p:txBody>
          <a:bodyPr wrap="square">
            <a:spAutoFit/>
          </a:bodyPr>
          <a:lstStyle/>
          <a:p>
            <a:pPr algn="l"/>
            <a:r>
              <a:rPr sz="1100" b="0" i="0">
                <a:solidFill>
                  <a:srgbClr val="FFFFFF"/>
                </a:solidFill>
              </a:rPr>
              <a:t>  Standard OLTP</a:t>
            </a:r>
          </a:p>
        </p:txBody>
      </p:sp>
      <p:sp>
        <p:nvSpPr>
          <p:cNvPr id="45" name="Rectangle 44"/>
          <p:cNvSpPr/>
          <p:nvPr/>
        </p:nvSpPr>
        <p:spPr>
          <a:xfrm>
            <a:off x="9052560" y="5449824"/>
            <a:ext cx="2468880" cy="301752"/>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5468112"/>
            <a:ext cx="2377440" cy="265176"/>
          </a:xfrm>
          <a:prstGeom prst="rect">
            <a:avLst/>
          </a:prstGeom>
          <a:noFill/>
        </p:spPr>
        <p:txBody>
          <a:bodyPr wrap="square">
            <a:spAutoFit/>
          </a:bodyPr>
          <a:lstStyle/>
          <a:p>
            <a:pPr algn="l"/>
            <a:r>
              <a:rPr sz="1100" b="0" i="0">
                <a:solidFill>
                  <a:srgbClr val="FFFFFF"/>
                </a:solidFill>
              </a:rPr>
              <a:t>  Max redundancy elimination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B. Normal Forms (Part 2)</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Higher Normal Forms — 4NF and 5NF</a:t>
            </a:r>
          </a:p>
        </p:txBody>
      </p:sp>
      <p:sp>
        <p:nvSpPr>
          <p:cNvPr id="8" name="Rectangle 7"/>
          <p:cNvSpPr/>
          <p:nvPr/>
        </p:nvSpPr>
        <p:spPr>
          <a:xfrm>
            <a:off x="365760" y="1207008"/>
            <a:ext cx="11430000" cy="347472"/>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25296"/>
            <a:ext cx="11155680" cy="310896"/>
          </a:xfrm>
          <a:prstGeom prst="rect">
            <a:avLst/>
          </a:prstGeom>
          <a:noFill/>
        </p:spPr>
        <p:txBody>
          <a:bodyPr wrap="square">
            <a:spAutoFit/>
          </a:bodyPr>
          <a:lstStyle/>
          <a:p>
            <a:pPr algn="l"/>
            <a:r>
              <a:rPr sz="1500" b="1" i="0">
                <a:solidFill>
                  <a:srgbClr val="FFD166"/>
                </a:solidFill>
              </a:rPr>
              <a:t>Fourth Normal Form (4NF) — Eliminating Multi-Valued Dependencies</a:t>
            </a:r>
          </a:p>
        </p:txBody>
      </p:sp>
      <p:sp>
        <p:nvSpPr>
          <p:cNvPr id="10" name="TextBox 9"/>
          <p:cNvSpPr txBox="1"/>
          <p:nvPr/>
        </p:nvSpPr>
        <p:spPr>
          <a:xfrm>
            <a:off x="502920" y="1572768"/>
            <a:ext cx="11155680" cy="548640"/>
          </a:xfrm>
          <a:prstGeom prst="rect">
            <a:avLst/>
          </a:prstGeom>
          <a:noFill/>
        </p:spPr>
        <p:txBody>
          <a:bodyPr wrap="square">
            <a:spAutoFit/>
          </a:bodyPr>
          <a:lstStyle/>
          <a:p>
            <a:pPr algn="l"/>
            <a:r>
              <a:rPr sz="1200" b="0" i="0">
                <a:solidFill>
                  <a:srgbClr val="FFFFFF"/>
                </a:solidFill>
              </a:rPr>
              <a:t>Prerequisite: BCNF   |   MVD Notation: A →→ B  (A independently determines multiple B values)
4NF: Relation is in 4NF if in BCNF and contains NO non-trivial MVDs unless the determinant is a superkey.</a:t>
            </a:r>
          </a:p>
        </p:txBody>
      </p:sp>
      <p:sp>
        <p:nvSpPr>
          <p:cNvPr id="11" name="TextBox 10"/>
          <p:cNvSpPr txBox="1"/>
          <p:nvPr/>
        </p:nvSpPr>
        <p:spPr>
          <a:xfrm>
            <a:off x="365760" y="2176272"/>
            <a:ext cx="4572000" cy="274320"/>
          </a:xfrm>
          <a:prstGeom prst="rect">
            <a:avLst/>
          </a:prstGeom>
          <a:noFill/>
        </p:spPr>
        <p:txBody>
          <a:bodyPr wrap="square">
            <a:spAutoFit/>
          </a:bodyPr>
          <a:lstStyle/>
          <a:p>
            <a:pPr algn="l"/>
            <a:r>
              <a:rPr sz="1300" b="1" i="0">
                <a:solidFill>
                  <a:srgbClr val="268BD2"/>
                </a:solidFill>
              </a:rPr>
              <a:t>Example — Violates 4NF:</a:t>
            </a:r>
          </a:p>
        </p:txBody>
      </p:sp>
      <p:sp>
        <p:nvSpPr>
          <p:cNvPr id="12" name="Rectangle 11"/>
          <p:cNvSpPr/>
          <p:nvPr/>
        </p:nvSpPr>
        <p:spPr>
          <a:xfrm>
            <a:off x="365760" y="2450592"/>
            <a:ext cx="6217920" cy="9601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468880"/>
            <a:ext cx="6035040" cy="914400"/>
          </a:xfrm>
          <a:prstGeom prst="rect">
            <a:avLst/>
          </a:prstGeom>
          <a:noFill/>
        </p:spPr>
        <p:txBody>
          <a:bodyPr wrap="square">
            <a:spAutoFit/>
          </a:bodyPr>
          <a:lstStyle/>
          <a:p>
            <a:pPr algn="l"/>
            <a:r>
              <a:rPr sz="1100" b="0" i="0">
                <a:solidFill>
                  <a:srgbClr val="FFFFFF"/>
                </a:solidFill>
              </a:rPr>
              <a:t>  Employee  |  Skill    |  Language
  ───────────────────────────────────────
  Alice      |  Java     |  English
  Alice      |  Python   |  French</a:t>
            </a:r>
          </a:p>
        </p:txBody>
      </p:sp>
      <p:sp>
        <p:nvSpPr>
          <p:cNvPr id="14" name="TextBox 13"/>
          <p:cNvSpPr txBox="1"/>
          <p:nvPr/>
        </p:nvSpPr>
        <p:spPr>
          <a:xfrm>
            <a:off x="6766560" y="2468880"/>
            <a:ext cx="4663440" cy="822960"/>
          </a:xfrm>
          <a:prstGeom prst="rect">
            <a:avLst/>
          </a:prstGeom>
          <a:noFill/>
        </p:spPr>
        <p:txBody>
          <a:bodyPr wrap="square">
            <a:spAutoFit/>
          </a:bodyPr>
          <a:lstStyle/>
          <a:p>
            <a:pPr algn="l"/>
            <a:r>
              <a:rPr sz="1200" b="0" i="0">
                <a:solidFill>
                  <a:srgbClr val="FFD166"/>
                </a:solidFill>
              </a:rPr>
              <a:t>  Employee →→ Skill   (independently)
  Employee →→ Language (independently)
  → Cartesian product = spurious rows!</a:t>
            </a:r>
          </a:p>
        </p:txBody>
      </p:sp>
      <p:sp>
        <p:nvSpPr>
          <p:cNvPr id="15" name="TextBox 14"/>
          <p:cNvSpPr txBox="1"/>
          <p:nvPr/>
        </p:nvSpPr>
        <p:spPr>
          <a:xfrm>
            <a:off x="365760" y="3474720"/>
            <a:ext cx="11430000" cy="274320"/>
          </a:xfrm>
          <a:prstGeom prst="rect">
            <a:avLst/>
          </a:prstGeom>
          <a:noFill/>
        </p:spPr>
        <p:txBody>
          <a:bodyPr wrap="square">
            <a:spAutoFit/>
          </a:bodyPr>
          <a:lstStyle/>
          <a:p>
            <a:pPr algn="l"/>
            <a:r>
              <a:rPr sz="1200" b="1" i="0">
                <a:solidFill>
                  <a:srgbClr val="2ECC71"/>
                </a:solidFill>
              </a:rPr>
              <a:t>✅  Decompose:  EmployeeSkill (Employee | Skill)  +  EmployeeLanguage (Employee | Language)</a:t>
            </a:r>
          </a:p>
        </p:txBody>
      </p:sp>
      <p:sp>
        <p:nvSpPr>
          <p:cNvPr id="16" name="Rectangle 15"/>
          <p:cNvSpPr/>
          <p:nvPr/>
        </p:nvSpPr>
        <p:spPr>
          <a:xfrm>
            <a:off x="0" y="3840480"/>
            <a:ext cx="12188952" cy="54864"/>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3950208"/>
            <a:ext cx="11430000" cy="347472"/>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968496"/>
            <a:ext cx="11155680" cy="310896"/>
          </a:xfrm>
          <a:prstGeom prst="rect">
            <a:avLst/>
          </a:prstGeom>
          <a:noFill/>
        </p:spPr>
        <p:txBody>
          <a:bodyPr wrap="square">
            <a:spAutoFit/>
          </a:bodyPr>
          <a:lstStyle/>
          <a:p>
            <a:pPr algn="l"/>
            <a:r>
              <a:rPr sz="1500" b="1" i="0">
                <a:solidFill>
                  <a:srgbClr val="FFD166"/>
                </a:solidFill>
              </a:rPr>
              <a:t>Fifth Normal Form (5NF / PJNF) — Eliminating Join Dependencies</a:t>
            </a:r>
          </a:p>
        </p:txBody>
      </p:sp>
      <p:sp>
        <p:nvSpPr>
          <p:cNvPr id="19" name="TextBox 18"/>
          <p:cNvSpPr txBox="1"/>
          <p:nvPr/>
        </p:nvSpPr>
        <p:spPr>
          <a:xfrm>
            <a:off x="502920" y="4315968"/>
            <a:ext cx="11155680" cy="548640"/>
          </a:xfrm>
          <a:prstGeom prst="rect">
            <a:avLst/>
          </a:prstGeom>
          <a:noFill/>
        </p:spPr>
        <p:txBody>
          <a:bodyPr wrap="square">
            <a:spAutoFit/>
          </a:bodyPr>
          <a:lstStyle/>
          <a:p>
            <a:pPr algn="l"/>
            <a:r>
              <a:rPr sz="1200" b="0" i="0">
                <a:solidFill>
                  <a:srgbClr val="FFFFFF"/>
                </a:solidFill>
              </a:rPr>
              <a:t>Prerequisite: 4NF   |   Join Dependency (JD): Table can be losslessly decomposed into 3+ tables, and joining them back reconstructs the original.
5NF: Relation is in 5NF if every join dependency is implied by the candidate keys.</a:t>
            </a:r>
          </a:p>
        </p:txBody>
      </p:sp>
      <p:sp>
        <p:nvSpPr>
          <p:cNvPr id="20" name="TextBox 19"/>
          <p:cNvSpPr txBox="1"/>
          <p:nvPr/>
        </p:nvSpPr>
        <p:spPr>
          <a:xfrm>
            <a:off x="365760" y="4919472"/>
            <a:ext cx="7315200" cy="274320"/>
          </a:xfrm>
          <a:prstGeom prst="rect">
            <a:avLst/>
          </a:prstGeom>
          <a:noFill/>
        </p:spPr>
        <p:txBody>
          <a:bodyPr wrap="square">
            <a:spAutoFit/>
          </a:bodyPr>
          <a:lstStyle/>
          <a:p>
            <a:pPr algn="l"/>
            <a:r>
              <a:rPr sz="1300" b="1" i="0">
                <a:solidFill>
                  <a:srgbClr val="268BD2"/>
                </a:solidFill>
              </a:rPr>
              <a:t>Classic Example — Supplier / Part / Project:</a:t>
            </a:r>
          </a:p>
        </p:txBody>
      </p:sp>
      <p:sp>
        <p:nvSpPr>
          <p:cNvPr id="21" name="TextBox 20"/>
          <p:cNvSpPr txBox="1"/>
          <p:nvPr/>
        </p:nvSpPr>
        <p:spPr>
          <a:xfrm>
            <a:off x="365760" y="5193792"/>
            <a:ext cx="11430000" cy="822960"/>
          </a:xfrm>
          <a:prstGeom prst="rect">
            <a:avLst/>
          </a:prstGeom>
          <a:noFill/>
        </p:spPr>
        <p:txBody>
          <a:bodyPr wrap="square">
            <a:spAutoFit/>
          </a:bodyPr>
          <a:lstStyle/>
          <a:p>
            <a:pPr algn="l"/>
            <a:r>
              <a:rPr sz="1200" b="0">
                <a:solidFill>
                  <a:srgbClr val="FFFFFF"/>
                </a:solidFill>
              </a:rPr>
              <a:t>  •  A supplier supplies certain parts, and those parts are used in certain projects</a:t>
            </a:r>
          </a:p>
          <a:p>
            <a:pPr algn="l"/>
            <a:r>
              <a:rPr sz="1200" b="0">
                <a:solidFill>
                  <a:srgbClr val="FFFFFF"/>
                </a:solidFill>
              </a:rPr>
              <a:t>  •  The combination {Supplier, Part, Project} holds only when all three pairwise relationships independently hold</a:t>
            </a:r>
          </a:p>
          <a:p>
            <a:pPr algn="l"/>
            <a:r>
              <a:rPr sz="1200" b="0">
                <a:solidFill>
                  <a:srgbClr val="FFFFFF"/>
                </a:solidFill>
              </a:rPr>
              <a:t>  •  Decompose into 3 binary tables; rejoining must reproduce the exact original</a:t>
            </a:r>
          </a:p>
        </p:txBody>
      </p:sp>
      <p:sp>
        <p:nvSpPr>
          <p:cNvPr id="22" name="Rectangle 21"/>
          <p:cNvSpPr/>
          <p:nvPr/>
        </p:nvSpPr>
        <p:spPr>
          <a:xfrm>
            <a:off x="365760" y="6080760"/>
            <a:ext cx="11430000" cy="347472"/>
          </a:xfrm>
          <a:prstGeom prst="rect">
            <a:avLst/>
          </a:prstGeom>
          <a:solidFill>
            <a:srgbClr val="0D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099048"/>
            <a:ext cx="11155680" cy="310896"/>
          </a:xfrm>
          <a:prstGeom prst="rect">
            <a:avLst/>
          </a:prstGeom>
          <a:noFill/>
        </p:spPr>
        <p:txBody>
          <a:bodyPr wrap="square">
            <a:spAutoFit/>
          </a:bodyPr>
          <a:lstStyle/>
          <a:p>
            <a:pPr algn="l"/>
            <a:r>
              <a:rPr sz="1100" b="0" i="0">
                <a:solidFill>
                  <a:srgbClr val="ECEFF4"/>
                </a:solidFill>
              </a:rPr>
              <a:t>  When to Apply: 4NF — uncommon but relevant;  5NF — largely theoretical, important for academic completeness and advanced modeling.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B. Normal Forms — Summary</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The Normalization Ladder — Visual Summary</a:t>
            </a:r>
          </a:p>
        </p:txBody>
      </p:sp>
      <p:sp>
        <p:nvSpPr>
          <p:cNvPr id="8" name="Rectangle 7"/>
          <p:cNvSpPr/>
          <p:nvPr/>
        </p:nvSpPr>
        <p:spPr>
          <a:xfrm>
            <a:off x="1097280" y="1234440"/>
            <a:ext cx="9966960" cy="658368"/>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39" y="1325880"/>
            <a:ext cx="1280160" cy="548640"/>
          </a:xfrm>
          <a:prstGeom prst="rect">
            <a:avLst/>
          </a:prstGeom>
          <a:noFill/>
        </p:spPr>
        <p:txBody>
          <a:bodyPr wrap="square">
            <a:spAutoFit/>
          </a:bodyPr>
          <a:lstStyle/>
          <a:p>
            <a:pPr algn="l"/>
            <a:r>
              <a:rPr sz="2000" b="1" i="0">
                <a:solidFill>
                  <a:srgbClr val="FFFFFF"/>
                </a:solidFill>
              </a:rPr>
              <a:t>5NF</a:t>
            </a:r>
          </a:p>
        </p:txBody>
      </p:sp>
      <p:sp>
        <p:nvSpPr>
          <p:cNvPr id="10" name="TextBox 9"/>
          <p:cNvSpPr txBox="1"/>
          <p:nvPr/>
        </p:nvSpPr>
        <p:spPr>
          <a:xfrm>
            <a:off x="2651760" y="1325880"/>
            <a:ext cx="8321040" cy="548640"/>
          </a:xfrm>
          <a:prstGeom prst="rect">
            <a:avLst/>
          </a:prstGeom>
          <a:noFill/>
        </p:spPr>
        <p:txBody>
          <a:bodyPr wrap="square">
            <a:spAutoFit/>
          </a:bodyPr>
          <a:lstStyle/>
          <a:p>
            <a:pPr algn="l"/>
            <a:r>
              <a:rPr sz="1400" b="0" i="0">
                <a:solidFill>
                  <a:srgbClr val="FFFFFF"/>
                </a:solidFill>
              </a:rPr>
              <a:t>No join dependencies beyond candidate keys</a:t>
            </a:r>
          </a:p>
        </p:txBody>
      </p:sp>
      <p:sp>
        <p:nvSpPr>
          <p:cNvPr id="11" name="TextBox 10"/>
          <p:cNvSpPr txBox="1"/>
          <p:nvPr/>
        </p:nvSpPr>
        <p:spPr>
          <a:xfrm>
            <a:off x="5760720" y="1847088"/>
            <a:ext cx="457200" cy="320040"/>
          </a:xfrm>
          <a:prstGeom prst="rect">
            <a:avLst/>
          </a:prstGeom>
          <a:noFill/>
        </p:spPr>
        <p:txBody>
          <a:bodyPr wrap="square">
            <a:spAutoFit/>
          </a:bodyPr>
          <a:lstStyle/>
          <a:p>
            <a:pPr algn="ctr"/>
            <a:r>
              <a:rPr sz="1400" b="1" i="0">
                <a:solidFill>
                  <a:srgbClr val="ECEFF4"/>
                </a:solidFill>
              </a:rPr>
              <a:t>⊃</a:t>
            </a:r>
          </a:p>
        </p:txBody>
      </p:sp>
      <p:sp>
        <p:nvSpPr>
          <p:cNvPr id="12" name="Rectangle 11"/>
          <p:cNvSpPr/>
          <p:nvPr/>
        </p:nvSpPr>
        <p:spPr>
          <a:xfrm>
            <a:off x="1261872" y="1965960"/>
            <a:ext cx="9637776" cy="658368"/>
          </a:xfrm>
          <a:prstGeom prst="rect">
            <a:avLst/>
          </a:prstGeom>
          <a:solidFill>
            <a:srgbClr val="167A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99031" y="2057400"/>
            <a:ext cx="1280160" cy="548640"/>
          </a:xfrm>
          <a:prstGeom prst="rect">
            <a:avLst/>
          </a:prstGeom>
          <a:noFill/>
        </p:spPr>
        <p:txBody>
          <a:bodyPr wrap="square">
            <a:spAutoFit/>
          </a:bodyPr>
          <a:lstStyle/>
          <a:p>
            <a:pPr algn="l"/>
            <a:r>
              <a:rPr sz="2000" b="1" i="0">
                <a:solidFill>
                  <a:srgbClr val="FFFFFF"/>
                </a:solidFill>
              </a:rPr>
              <a:t>4NF</a:t>
            </a:r>
          </a:p>
        </p:txBody>
      </p:sp>
      <p:sp>
        <p:nvSpPr>
          <p:cNvPr id="14" name="TextBox 13"/>
          <p:cNvSpPr txBox="1"/>
          <p:nvPr/>
        </p:nvSpPr>
        <p:spPr>
          <a:xfrm>
            <a:off x="2816352" y="2057400"/>
            <a:ext cx="7991856" cy="548640"/>
          </a:xfrm>
          <a:prstGeom prst="rect">
            <a:avLst/>
          </a:prstGeom>
          <a:noFill/>
        </p:spPr>
        <p:txBody>
          <a:bodyPr wrap="square">
            <a:spAutoFit/>
          </a:bodyPr>
          <a:lstStyle/>
          <a:p>
            <a:pPr algn="l"/>
            <a:r>
              <a:rPr sz="1400" b="0" i="0">
                <a:solidFill>
                  <a:srgbClr val="FFFFFF"/>
                </a:solidFill>
              </a:rPr>
              <a:t>No non-trivial multi-valued dependencies</a:t>
            </a:r>
          </a:p>
        </p:txBody>
      </p:sp>
      <p:sp>
        <p:nvSpPr>
          <p:cNvPr id="15" name="TextBox 14"/>
          <p:cNvSpPr txBox="1"/>
          <p:nvPr/>
        </p:nvSpPr>
        <p:spPr>
          <a:xfrm>
            <a:off x="5760720" y="2578608"/>
            <a:ext cx="457200" cy="320040"/>
          </a:xfrm>
          <a:prstGeom prst="rect">
            <a:avLst/>
          </a:prstGeom>
          <a:noFill/>
        </p:spPr>
        <p:txBody>
          <a:bodyPr wrap="square">
            <a:spAutoFit/>
          </a:bodyPr>
          <a:lstStyle/>
          <a:p>
            <a:pPr algn="ctr"/>
            <a:r>
              <a:rPr sz="1400" b="1" i="0">
                <a:solidFill>
                  <a:srgbClr val="ECEFF4"/>
                </a:solidFill>
              </a:rPr>
              <a:t>⊃</a:t>
            </a:r>
          </a:p>
        </p:txBody>
      </p:sp>
      <p:sp>
        <p:nvSpPr>
          <p:cNvPr id="16" name="Rectangle 15"/>
          <p:cNvSpPr/>
          <p:nvPr/>
        </p:nvSpPr>
        <p:spPr>
          <a:xfrm>
            <a:off x="1426464" y="2697480"/>
            <a:ext cx="9308592" cy="65836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63624" y="2788920"/>
            <a:ext cx="1280160" cy="548640"/>
          </a:xfrm>
          <a:prstGeom prst="rect">
            <a:avLst/>
          </a:prstGeom>
          <a:noFill/>
        </p:spPr>
        <p:txBody>
          <a:bodyPr wrap="square">
            <a:spAutoFit/>
          </a:bodyPr>
          <a:lstStyle/>
          <a:p>
            <a:pPr algn="l"/>
            <a:r>
              <a:rPr sz="2000" b="1" i="0">
                <a:solidFill>
                  <a:srgbClr val="FFFFFF"/>
                </a:solidFill>
              </a:rPr>
              <a:t>BCNF</a:t>
            </a:r>
          </a:p>
        </p:txBody>
      </p:sp>
      <p:sp>
        <p:nvSpPr>
          <p:cNvPr id="18" name="TextBox 17"/>
          <p:cNvSpPr txBox="1"/>
          <p:nvPr/>
        </p:nvSpPr>
        <p:spPr>
          <a:xfrm>
            <a:off x="2980944" y="2788920"/>
            <a:ext cx="7662671" cy="548640"/>
          </a:xfrm>
          <a:prstGeom prst="rect">
            <a:avLst/>
          </a:prstGeom>
          <a:noFill/>
        </p:spPr>
        <p:txBody>
          <a:bodyPr wrap="square">
            <a:spAutoFit/>
          </a:bodyPr>
          <a:lstStyle/>
          <a:p>
            <a:pPr algn="l"/>
            <a:r>
              <a:rPr sz="1400" b="0" i="0">
                <a:solidFill>
                  <a:srgbClr val="FFFFFF"/>
                </a:solidFill>
              </a:rPr>
              <a:t>Every determinant must be a superkey</a:t>
            </a:r>
          </a:p>
        </p:txBody>
      </p:sp>
      <p:sp>
        <p:nvSpPr>
          <p:cNvPr id="19" name="TextBox 18"/>
          <p:cNvSpPr txBox="1"/>
          <p:nvPr/>
        </p:nvSpPr>
        <p:spPr>
          <a:xfrm>
            <a:off x="5760720" y="3310128"/>
            <a:ext cx="457200" cy="320040"/>
          </a:xfrm>
          <a:prstGeom prst="rect">
            <a:avLst/>
          </a:prstGeom>
          <a:noFill/>
        </p:spPr>
        <p:txBody>
          <a:bodyPr wrap="square">
            <a:spAutoFit/>
          </a:bodyPr>
          <a:lstStyle/>
          <a:p>
            <a:pPr algn="ctr"/>
            <a:r>
              <a:rPr sz="1400" b="1" i="0">
                <a:solidFill>
                  <a:srgbClr val="ECEFF4"/>
                </a:solidFill>
              </a:rPr>
              <a:t>⊃</a:t>
            </a:r>
          </a:p>
        </p:txBody>
      </p:sp>
      <p:sp>
        <p:nvSpPr>
          <p:cNvPr id="20" name="Rectangle 19"/>
          <p:cNvSpPr/>
          <p:nvPr/>
        </p:nvSpPr>
        <p:spPr>
          <a:xfrm>
            <a:off x="1591056" y="3429000"/>
            <a:ext cx="8979408" cy="65836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28216" y="3520440"/>
            <a:ext cx="1280160" cy="548640"/>
          </a:xfrm>
          <a:prstGeom prst="rect">
            <a:avLst/>
          </a:prstGeom>
          <a:noFill/>
        </p:spPr>
        <p:txBody>
          <a:bodyPr wrap="square">
            <a:spAutoFit/>
          </a:bodyPr>
          <a:lstStyle/>
          <a:p>
            <a:pPr algn="l"/>
            <a:r>
              <a:rPr sz="2000" b="1" i="0">
                <a:solidFill>
                  <a:srgbClr val="FFFFFF"/>
                </a:solidFill>
              </a:rPr>
              <a:t>3NF</a:t>
            </a:r>
          </a:p>
        </p:txBody>
      </p:sp>
      <p:sp>
        <p:nvSpPr>
          <p:cNvPr id="22" name="TextBox 21"/>
          <p:cNvSpPr txBox="1"/>
          <p:nvPr/>
        </p:nvSpPr>
        <p:spPr>
          <a:xfrm>
            <a:off x="3145536" y="3520440"/>
            <a:ext cx="7333488" cy="548640"/>
          </a:xfrm>
          <a:prstGeom prst="rect">
            <a:avLst/>
          </a:prstGeom>
          <a:noFill/>
        </p:spPr>
        <p:txBody>
          <a:bodyPr wrap="square">
            <a:spAutoFit/>
          </a:bodyPr>
          <a:lstStyle/>
          <a:p>
            <a:pPr algn="l"/>
            <a:r>
              <a:rPr sz="1400" b="0" i="0">
                <a:solidFill>
                  <a:srgbClr val="FFFFFF"/>
                </a:solidFill>
              </a:rPr>
              <a:t>No transitive dependencies</a:t>
            </a:r>
          </a:p>
        </p:txBody>
      </p:sp>
      <p:sp>
        <p:nvSpPr>
          <p:cNvPr id="23" name="TextBox 22"/>
          <p:cNvSpPr txBox="1"/>
          <p:nvPr/>
        </p:nvSpPr>
        <p:spPr>
          <a:xfrm>
            <a:off x="5760720" y="4041648"/>
            <a:ext cx="457200" cy="320040"/>
          </a:xfrm>
          <a:prstGeom prst="rect">
            <a:avLst/>
          </a:prstGeom>
          <a:noFill/>
        </p:spPr>
        <p:txBody>
          <a:bodyPr wrap="square">
            <a:spAutoFit/>
          </a:bodyPr>
          <a:lstStyle/>
          <a:p>
            <a:pPr algn="ctr"/>
            <a:r>
              <a:rPr sz="1400" b="1" i="0">
                <a:solidFill>
                  <a:srgbClr val="ECEFF4"/>
                </a:solidFill>
              </a:rPr>
              <a:t>⊃</a:t>
            </a:r>
          </a:p>
        </p:txBody>
      </p:sp>
      <p:sp>
        <p:nvSpPr>
          <p:cNvPr id="24" name="Rectangle 23"/>
          <p:cNvSpPr/>
          <p:nvPr/>
        </p:nvSpPr>
        <p:spPr>
          <a:xfrm>
            <a:off x="1755648" y="4160520"/>
            <a:ext cx="8650224" cy="65836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892807" y="4251959"/>
            <a:ext cx="1280160" cy="548640"/>
          </a:xfrm>
          <a:prstGeom prst="rect">
            <a:avLst/>
          </a:prstGeom>
          <a:noFill/>
        </p:spPr>
        <p:txBody>
          <a:bodyPr wrap="square">
            <a:spAutoFit/>
          </a:bodyPr>
          <a:lstStyle/>
          <a:p>
            <a:pPr algn="l"/>
            <a:r>
              <a:rPr sz="2000" b="1" i="0">
                <a:solidFill>
                  <a:srgbClr val="FFFFFF"/>
                </a:solidFill>
              </a:rPr>
              <a:t>2NF</a:t>
            </a:r>
          </a:p>
        </p:txBody>
      </p:sp>
      <p:sp>
        <p:nvSpPr>
          <p:cNvPr id="26" name="TextBox 25"/>
          <p:cNvSpPr txBox="1"/>
          <p:nvPr/>
        </p:nvSpPr>
        <p:spPr>
          <a:xfrm>
            <a:off x="3310128" y="4251959"/>
            <a:ext cx="7004304" cy="548640"/>
          </a:xfrm>
          <a:prstGeom prst="rect">
            <a:avLst/>
          </a:prstGeom>
          <a:noFill/>
        </p:spPr>
        <p:txBody>
          <a:bodyPr wrap="square">
            <a:spAutoFit/>
          </a:bodyPr>
          <a:lstStyle/>
          <a:p>
            <a:pPr algn="l"/>
            <a:r>
              <a:rPr sz="1400" b="0" i="0">
                <a:solidFill>
                  <a:srgbClr val="FFFFFF"/>
                </a:solidFill>
              </a:rPr>
              <a:t>No partial dependencies</a:t>
            </a:r>
          </a:p>
        </p:txBody>
      </p:sp>
      <p:sp>
        <p:nvSpPr>
          <p:cNvPr id="27" name="TextBox 26"/>
          <p:cNvSpPr txBox="1"/>
          <p:nvPr/>
        </p:nvSpPr>
        <p:spPr>
          <a:xfrm>
            <a:off x="5760720" y="4773168"/>
            <a:ext cx="457200" cy="320040"/>
          </a:xfrm>
          <a:prstGeom prst="rect">
            <a:avLst/>
          </a:prstGeom>
          <a:noFill/>
        </p:spPr>
        <p:txBody>
          <a:bodyPr wrap="square">
            <a:spAutoFit/>
          </a:bodyPr>
          <a:lstStyle/>
          <a:p>
            <a:pPr algn="ctr"/>
            <a:r>
              <a:rPr sz="1400" b="1" i="0">
                <a:solidFill>
                  <a:srgbClr val="ECEFF4"/>
                </a:solidFill>
              </a:rPr>
              <a:t>⊃</a:t>
            </a:r>
          </a:p>
        </p:txBody>
      </p:sp>
      <p:sp>
        <p:nvSpPr>
          <p:cNvPr id="28" name="Rectangle 27"/>
          <p:cNvSpPr/>
          <p:nvPr/>
        </p:nvSpPr>
        <p:spPr>
          <a:xfrm>
            <a:off x="1920239" y="4892040"/>
            <a:ext cx="8321040" cy="65836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57399" y="4983479"/>
            <a:ext cx="1280160" cy="548640"/>
          </a:xfrm>
          <a:prstGeom prst="rect">
            <a:avLst/>
          </a:prstGeom>
          <a:noFill/>
        </p:spPr>
        <p:txBody>
          <a:bodyPr wrap="square">
            <a:spAutoFit/>
          </a:bodyPr>
          <a:lstStyle/>
          <a:p>
            <a:pPr algn="l"/>
            <a:r>
              <a:rPr sz="2000" b="1" i="0">
                <a:solidFill>
                  <a:srgbClr val="FFFFFF"/>
                </a:solidFill>
              </a:rPr>
              <a:t>1NF</a:t>
            </a:r>
          </a:p>
        </p:txBody>
      </p:sp>
      <p:sp>
        <p:nvSpPr>
          <p:cNvPr id="30" name="TextBox 29"/>
          <p:cNvSpPr txBox="1"/>
          <p:nvPr/>
        </p:nvSpPr>
        <p:spPr>
          <a:xfrm>
            <a:off x="3474720" y="4983479"/>
            <a:ext cx="6675120" cy="548640"/>
          </a:xfrm>
          <a:prstGeom prst="rect">
            <a:avLst/>
          </a:prstGeom>
          <a:noFill/>
        </p:spPr>
        <p:txBody>
          <a:bodyPr wrap="square">
            <a:spAutoFit/>
          </a:bodyPr>
          <a:lstStyle/>
          <a:p>
            <a:pPr algn="l"/>
            <a:r>
              <a:rPr sz="1400" b="0" i="0">
                <a:solidFill>
                  <a:srgbClr val="FFFFFF"/>
                </a:solidFill>
              </a:rPr>
              <a:t>Atomic values, no repeating groups</a:t>
            </a:r>
          </a:p>
        </p:txBody>
      </p:sp>
      <p:sp>
        <p:nvSpPr>
          <p:cNvPr id="31" name="TextBox 30"/>
          <p:cNvSpPr txBox="1"/>
          <p:nvPr/>
        </p:nvSpPr>
        <p:spPr>
          <a:xfrm>
            <a:off x="457200" y="6309360"/>
            <a:ext cx="11247120" cy="320040"/>
          </a:xfrm>
          <a:prstGeom prst="rect">
            <a:avLst/>
          </a:prstGeom>
          <a:noFill/>
        </p:spPr>
        <p:txBody>
          <a:bodyPr wrap="square">
            <a:spAutoFit/>
          </a:bodyPr>
          <a:lstStyle/>
          <a:p>
            <a:pPr algn="ctr"/>
            <a:r>
              <a:rPr sz="1200" b="0" i="0">
                <a:solidFill>
                  <a:srgbClr val="ECEFF4"/>
                </a:solidFill>
              </a:rPr>
              <a:t>Every higher NF includes ALL requirements of the forms below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C. Functional Dependencies</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Functional Dependencies — Concepts and Identification</a:t>
            </a:r>
          </a:p>
        </p:txBody>
      </p:sp>
      <p:sp>
        <p:nvSpPr>
          <p:cNvPr id="8" name="Rectangle 7"/>
          <p:cNvSpPr/>
          <p:nvPr/>
        </p:nvSpPr>
        <p:spPr>
          <a:xfrm>
            <a:off x="365760" y="1207008"/>
            <a:ext cx="11430000" cy="4572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25296"/>
            <a:ext cx="11155680" cy="420624"/>
          </a:xfrm>
          <a:prstGeom prst="rect">
            <a:avLst/>
          </a:prstGeom>
          <a:noFill/>
        </p:spPr>
        <p:txBody>
          <a:bodyPr wrap="square">
            <a:spAutoFit/>
          </a:bodyPr>
          <a:lstStyle/>
          <a:p>
            <a:pPr algn="l"/>
            <a:r>
              <a:rPr sz="1300" b="0" i="0">
                <a:solidFill>
                  <a:srgbClr val="FFFFFF"/>
                </a:solidFill>
              </a:rPr>
              <a:t>FD  X → Y: For every valid tuple, if two tuples share the same X, they MUST have the same Y.  ("X functionally determines Y")</a:t>
            </a:r>
          </a:p>
        </p:txBody>
      </p:sp>
      <p:sp>
        <p:nvSpPr>
          <p:cNvPr id="10" name="Rectangle 9"/>
          <p:cNvSpPr/>
          <p:nvPr/>
        </p:nvSpPr>
        <p:spPr>
          <a:xfrm>
            <a:off x="365760" y="1737360"/>
            <a:ext cx="8915400" cy="292608"/>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746504"/>
            <a:ext cx="1965960" cy="274320"/>
          </a:xfrm>
          <a:prstGeom prst="rect">
            <a:avLst/>
          </a:prstGeom>
          <a:noFill/>
        </p:spPr>
        <p:txBody>
          <a:bodyPr wrap="square">
            <a:spAutoFit/>
          </a:bodyPr>
          <a:lstStyle/>
          <a:p>
            <a:pPr algn="l"/>
            <a:r>
              <a:rPr sz="1200" b="1" i="0">
                <a:solidFill>
                  <a:srgbClr val="FFD166"/>
                </a:solidFill>
              </a:rPr>
              <a:t>Term</a:t>
            </a:r>
          </a:p>
        </p:txBody>
      </p:sp>
      <p:sp>
        <p:nvSpPr>
          <p:cNvPr id="12" name="TextBox 11"/>
          <p:cNvSpPr txBox="1"/>
          <p:nvPr/>
        </p:nvSpPr>
        <p:spPr>
          <a:xfrm>
            <a:off x="2423160" y="1746504"/>
            <a:ext cx="3154680" cy="274320"/>
          </a:xfrm>
          <a:prstGeom prst="rect">
            <a:avLst/>
          </a:prstGeom>
          <a:noFill/>
        </p:spPr>
        <p:txBody>
          <a:bodyPr wrap="square">
            <a:spAutoFit/>
          </a:bodyPr>
          <a:lstStyle/>
          <a:p>
            <a:pPr algn="l"/>
            <a:r>
              <a:rPr sz="1200" b="1" i="0">
                <a:solidFill>
                  <a:srgbClr val="FFD166"/>
                </a:solidFill>
              </a:rPr>
              <a:t>Definition</a:t>
            </a:r>
          </a:p>
        </p:txBody>
      </p:sp>
      <p:sp>
        <p:nvSpPr>
          <p:cNvPr id="13" name="TextBox 12"/>
          <p:cNvSpPr txBox="1"/>
          <p:nvPr/>
        </p:nvSpPr>
        <p:spPr>
          <a:xfrm>
            <a:off x="5623559" y="1746504"/>
            <a:ext cx="3291840" cy="274320"/>
          </a:xfrm>
          <a:prstGeom prst="rect">
            <a:avLst/>
          </a:prstGeom>
          <a:noFill/>
        </p:spPr>
        <p:txBody>
          <a:bodyPr wrap="square">
            <a:spAutoFit/>
          </a:bodyPr>
          <a:lstStyle/>
          <a:p>
            <a:pPr algn="l"/>
            <a:r>
              <a:rPr sz="1200" b="1" i="0">
                <a:solidFill>
                  <a:srgbClr val="FFD166"/>
                </a:solidFill>
              </a:rPr>
              <a:t>Example</a:t>
            </a:r>
          </a:p>
        </p:txBody>
      </p:sp>
      <p:sp>
        <p:nvSpPr>
          <p:cNvPr id="14" name="Rectangle 13"/>
          <p:cNvSpPr/>
          <p:nvPr/>
        </p:nvSpPr>
        <p:spPr>
          <a:xfrm>
            <a:off x="365760" y="2029968"/>
            <a:ext cx="196596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048256"/>
            <a:ext cx="1874519" cy="256032"/>
          </a:xfrm>
          <a:prstGeom prst="rect">
            <a:avLst/>
          </a:prstGeom>
          <a:noFill/>
        </p:spPr>
        <p:txBody>
          <a:bodyPr wrap="square">
            <a:spAutoFit/>
          </a:bodyPr>
          <a:lstStyle/>
          <a:p>
            <a:pPr algn="l"/>
            <a:r>
              <a:rPr sz="1000" b="0" i="0">
                <a:solidFill>
                  <a:srgbClr val="FFFFFF"/>
                </a:solidFill>
              </a:rPr>
              <a:t>  Determinant</a:t>
            </a:r>
          </a:p>
        </p:txBody>
      </p:sp>
      <p:sp>
        <p:nvSpPr>
          <p:cNvPr id="16" name="Rectangle 15"/>
          <p:cNvSpPr/>
          <p:nvPr/>
        </p:nvSpPr>
        <p:spPr>
          <a:xfrm>
            <a:off x="2377440" y="2029968"/>
            <a:ext cx="315468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23160" y="2048256"/>
            <a:ext cx="3063240" cy="256032"/>
          </a:xfrm>
          <a:prstGeom prst="rect">
            <a:avLst/>
          </a:prstGeom>
          <a:noFill/>
        </p:spPr>
        <p:txBody>
          <a:bodyPr wrap="square">
            <a:spAutoFit/>
          </a:bodyPr>
          <a:lstStyle/>
          <a:p>
            <a:pPr algn="l"/>
            <a:r>
              <a:rPr sz="1000" b="0" i="0">
                <a:solidFill>
                  <a:srgbClr val="FFFFFF"/>
                </a:solidFill>
              </a:rPr>
              <a:t>  Left side of FD</a:t>
            </a:r>
          </a:p>
        </p:txBody>
      </p:sp>
      <p:sp>
        <p:nvSpPr>
          <p:cNvPr id="18" name="Rectangle 17"/>
          <p:cNvSpPr/>
          <p:nvPr/>
        </p:nvSpPr>
        <p:spPr>
          <a:xfrm>
            <a:off x="5577840" y="2029968"/>
            <a:ext cx="329184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59" y="2048256"/>
            <a:ext cx="3200400" cy="256032"/>
          </a:xfrm>
          <a:prstGeom prst="rect">
            <a:avLst/>
          </a:prstGeom>
          <a:noFill/>
        </p:spPr>
        <p:txBody>
          <a:bodyPr wrap="square">
            <a:spAutoFit/>
          </a:bodyPr>
          <a:lstStyle/>
          <a:p>
            <a:pPr algn="l"/>
            <a:r>
              <a:rPr sz="1000" b="0" i="0">
                <a:solidFill>
                  <a:srgbClr val="FFFFFF"/>
                </a:solidFill>
              </a:rPr>
              <a:t>  StudentID in StudentID → Name</a:t>
            </a:r>
          </a:p>
        </p:txBody>
      </p:sp>
      <p:sp>
        <p:nvSpPr>
          <p:cNvPr id="20" name="Rectangle 19"/>
          <p:cNvSpPr/>
          <p:nvPr/>
        </p:nvSpPr>
        <p:spPr>
          <a:xfrm>
            <a:off x="365760" y="2322576"/>
            <a:ext cx="196596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340864"/>
            <a:ext cx="1874519" cy="256032"/>
          </a:xfrm>
          <a:prstGeom prst="rect">
            <a:avLst/>
          </a:prstGeom>
          <a:noFill/>
        </p:spPr>
        <p:txBody>
          <a:bodyPr wrap="square">
            <a:spAutoFit/>
          </a:bodyPr>
          <a:lstStyle/>
          <a:p>
            <a:pPr algn="l"/>
            <a:r>
              <a:rPr sz="1000" b="0" i="0">
                <a:solidFill>
                  <a:srgbClr val="FFFFFF"/>
                </a:solidFill>
              </a:rPr>
              <a:t>  Dependent</a:t>
            </a:r>
          </a:p>
        </p:txBody>
      </p:sp>
      <p:sp>
        <p:nvSpPr>
          <p:cNvPr id="22" name="Rectangle 21"/>
          <p:cNvSpPr/>
          <p:nvPr/>
        </p:nvSpPr>
        <p:spPr>
          <a:xfrm>
            <a:off x="2377440" y="2322576"/>
            <a:ext cx="315468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23160" y="2340864"/>
            <a:ext cx="3063240" cy="256032"/>
          </a:xfrm>
          <a:prstGeom prst="rect">
            <a:avLst/>
          </a:prstGeom>
          <a:noFill/>
        </p:spPr>
        <p:txBody>
          <a:bodyPr wrap="square">
            <a:spAutoFit/>
          </a:bodyPr>
          <a:lstStyle/>
          <a:p>
            <a:pPr algn="l"/>
            <a:r>
              <a:rPr sz="1000" b="0" i="0">
                <a:solidFill>
                  <a:srgbClr val="FFFFFF"/>
                </a:solidFill>
              </a:rPr>
              <a:t>  Right side of FD</a:t>
            </a:r>
          </a:p>
        </p:txBody>
      </p:sp>
      <p:sp>
        <p:nvSpPr>
          <p:cNvPr id="24" name="Rectangle 23"/>
          <p:cNvSpPr/>
          <p:nvPr/>
        </p:nvSpPr>
        <p:spPr>
          <a:xfrm>
            <a:off x="5577840" y="2322576"/>
            <a:ext cx="329184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59" y="2340864"/>
            <a:ext cx="3200400" cy="256032"/>
          </a:xfrm>
          <a:prstGeom prst="rect">
            <a:avLst/>
          </a:prstGeom>
          <a:noFill/>
        </p:spPr>
        <p:txBody>
          <a:bodyPr wrap="square">
            <a:spAutoFit/>
          </a:bodyPr>
          <a:lstStyle/>
          <a:p>
            <a:pPr algn="l"/>
            <a:r>
              <a:rPr sz="1000" b="0" i="0">
                <a:solidFill>
                  <a:srgbClr val="FFFFFF"/>
                </a:solidFill>
              </a:rPr>
              <a:t>  Name in StudentID → Name</a:t>
            </a:r>
          </a:p>
        </p:txBody>
      </p:sp>
      <p:sp>
        <p:nvSpPr>
          <p:cNvPr id="26" name="Rectangle 25"/>
          <p:cNvSpPr/>
          <p:nvPr/>
        </p:nvSpPr>
        <p:spPr>
          <a:xfrm>
            <a:off x="365760" y="2615184"/>
            <a:ext cx="196596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2633472"/>
            <a:ext cx="1874519" cy="256032"/>
          </a:xfrm>
          <a:prstGeom prst="rect">
            <a:avLst/>
          </a:prstGeom>
          <a:noFill/>
        </p:spPr>
        <p:txBody>
          <a:bodyPr wrap="square">
            <a:spAutoFit/>
          </a:bodyPr>
          <a:lstStyle/>
          <a:p>
            <a:pPr algn="l"/>
            <a:r>
              <a:rPr sz="1000" b="0" i="0">
                <a:solidFill>
                  <a:srgbClr val="FFFFFF"/>
                </a:solidFill>
              </a:rPr>
              <a:t>  Trivial FD</a:t>
            </a:r>
          </a:p>
        </p:txBody>
      </p:sp>
      <p:sp>
        <p:nvSpPr>
          <p:cNvPr id="28" name="Rectangle 27"/>
          <p:cNvSpPr/>
          <p:nvPr/>
        </p:nvSpPr>
        <p:spPr>
          <a:xfrm>
            <a:off x="2377440" y="2615184"/>
            <a:ext cx="315468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23160" y="2633472"/>
            <a:ext cx="3063240" cy="256032"/>
          </a:xfrm>
          <a:prstGeom prst="rect">
            <a:avLst/>
          </a:prstGeom>
          <a:noFill/>
        </p:spPr>
        <p:txBody>
          <a:bodyPr wrap="square">
            <a:spAutoFit/>
          </a:bodyPr>
          <a:lstStyle/>
          <a:p>
            <a:pPr algn="l"/>
            <a:r>
              <a:rPr sz="1000" b="0" i="0">
                <a:solidFill>
                  <a:srgbClr val="FFFFFF"/>
                </a:solidFill>
              </a:rPr>
              <a:t>  Dependent ⊆ determinant</a:t>
            </a:r>
          </a:p>
        </p:txBody>
      </p:sp>
      <p:sp>
        <p:nvSpPr>
          <p:cNvPr id="30" name="Rectangle 29"/>
          <p:cNvSpPr/>
          <p:nvPr/>
        </p:nvSpPr>
        <p:spPr>
          <a:xfrm>
            <a:off x="5577840" y="2615184"/>
            <a:ext cx="329184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23559" y="2633472"/>
            <a:ext cx="3200400" cy="256032"/>
          </a:xfrm>
          <a:prstGeom prst="rect">
            <a:avLst/>
          </a:prstGeom>
          <a:noFill/>
        </p:spPr>
        <p:txBody>
          <a:bodyPr wrap="square">
            <a:spAutoFit/>
          </a:bodyPr>
          <a:lstStyle/>
          <a:p>
            <a:pPr algn="l"/>
            <a:r>
              <a:rPr sz="1000" b="0" i="0">
                <a:solidFill>
                  <a:srgbClr val="FFFFFF"/>
                </a:solidFill>
              </a:rPr>
              <a:t>  {A,B} → A</a:t>
            </a:r>
          </a:p>
        </p:txBody>
      </p:sp>
      <p:sp>
        <p:nvSpPr>
          <p:cNvPr id="32" name="Rectangle 31"/>
          <p:cNvSpPr/>
          <p:nvPr/>
        </p:nvSpPr>
        <p:spPr>
          <a:xfrm>
            <a:off x="365760" y="2907792"/>
            <a:ext cx="196596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2926080"/>
            <a:ext cx="1874519" cy="256032"/>
          </a:xfrm>
          <a:prstGeom prst="rect">
            <a:avLst/>
          </a:prstGeom>
          <a:noFill/>
        </p:spPr>
        <p:txBody>
          <a:bodyPr wrap="square">
            <a:spAutoFit/>
          </a:bodyPr>
          <a:lstStyle/>
          <a:p>
            <a:pPr algn="l"/>
            <a:r>
              <a:rPr sz="1000" b="0" i="0">
                <a:solidFill>
                  <a:srgbClr val="FFFFFF"/>
                </a:solidFill>
              </a:rPr>
              <a:t>  Full FD</a:t>
            </a:r>
          </a:p>
        </p:txBody>
      </p:sp>
      <p:sp>
        <p:nvSpPr>
          <p:cNvPr id="34" name="Rectangle 33"/>
          <p:cNvSpPr/>
          <p:nvPr/>
        </p:nvSpPr>
        <p:spPr>
          <a:xfrm>
            <a:off x="2377440" y="2907792"/>
            <a:ext cx="315468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23160" y="2926080"/>
            <a:ext cx="3063240" cy="256032"/>
          </a:xfrm>
          <a:prstGeom prst="rect">
            <a:avLst/>
          </a:prstGeom>
          <a:noFill/>
        </p:spPr>
        <p:txBody>
          <a:bodyPr wrap="square">
            <a:spAutoFit/>
          </a:bodyPr>
          <a:lstStyle/>
          <a:p>
            <a:pPr algn="l"/>
            <a:r>
              <a:rPr sz="1000" b="0" i="0">
                <a:solidFill>
                  <a:srgbClr val="FFFFFF"/>
                </a:solidFill>
              </a:rPr>
              <a:t>  Relies on ENTIRE determinant</a:t>
            </a:r>
          </a:p>
        </p:txBody>
      </p:sp>
      <p:sp>
        <p:nvSpPr>
          <p:cNvPr id="36" name="Rectangle 35"/>
          <p:cNvSpPr/>
          <p:nvPr/>
        </p:nvSpPr>
        <p:spPr>
          <a:xfrm>
            <a:off x="5577840" y="2907792"/>
            <a:ext cx="329184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23559" y="2926080"/>
            <a:ext cx="3200400" cy="256032"/>
          </a:xfrm>
          <a:prstGeom prst="rect">
            <a:avLst/>
          </a:prstGeom>
          <a:noFill/>
        </p:spPr>
        <p:txBody>
          <a:bodyPr wrap="square">
            <a:spAutoFit/>
          </a:bodyPr>
          <a:lstStyle/>
          <a:p>
            <a:pPr algn="l"/>
            <a:r>
              <a:rPr sz="1000" b="0" i="0">
                <a:solidFill>
                  <a:srgbClr val="FFFFFF"/>
                </a:solidFill>
              </a:rPr>
              <a:t>  Critical for 2NF</a:t>
            </a:r>
          </a:p>
        </p:txBody>
      </p:sp>
      <p:sp>
        <p:nvSpPr>
          <p:cNvPr id="38" name="Rectangle 37"/>
          <p:cNvSpPr/>
          <p:nvPr/>
        </p:nvSpPr>
        <p:spPr>
          <a:xfrm>
            <a:off x="365760" y="3200400"/>
            <a:ext cx="196596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3218688"/>
            <a:ext cx="1874519" cy="256032"/>
          </a:xfrm>
          <a:prstGeom prst="rect">
            <a:avLst/>
          </a:prstGeom>
          <a:noFill/>
        </p:spPr>
        <p:txBody>
          <a:bodyPr wrap="square">
            <a:spAutoFit/>
          </a:bodyPr>
          <a:lstStyle/>
          <a:p>
            <a:pPr algn="l"/>
            <a:r>
              <a:rPr sz="1000" b="0" i="0">
                <a:solidFill>
                  <a:srgbClr val="FFFFFF"/>
                </a:solidFill>
              </a:rPr>
              <a:t>  Partial FD</a:t>
            </a:r>
          </a:p>
        </p:txBody>
      </p:sp>
      <p:sp>
        <p:nvSpPr>
          <p:cNvPr id="40" name="Rectangle 39"/>
          <p:cNvSpPr/>
          <p:nvPr/>
        </p:nvSpPr>
        <p:spPr>
          <a:xfrm>
            <a:off x="2377440" y="3200400"/>
            <a:ext cx="315468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23160" y="3218688"/>
            <a:ext cx="3063240" cy="256032"/>
          </a:xfrm>
          <a:prstGeom prst="rect">
            <a:avLst/>
          </a:prstGeom>
          <a:noFill/>
        </p:spPr>
        <p:txBody>
          <a:bodyPr wrap="square">
            <a:spAutoFit/>
          </a:bodyPr>
          <a:lstStyle/>
          <a:p>
            <a:pPr algn="l"/>
            <a:r>
              <a:rPr sz="1000" b="0" i="0">
                <a:solidFill>
                  <a:srgbClr val="FFFFFF"/>
                </a:solidFill>
              </a:rPr>
              <a:t>  Relies on PART of determinant</a:t>
            </a:r>
          </a:p>
        </p:txBody>
      </p:sp>
      <p:sp>
        <p:nvSpPr>
          <p:cNvPr id="42" name="Rectangle 41"/>
          <p:cNvSpPr/>
          <p:nvPr/>
        </p:nvSpPr>
        <p:spPr>
          <a:xfrm>
            <a:off x="5577840" y="3200400"/>
            <a:ext cx="329184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23559" y="3218688"/>
            <a:ext cx="3200400" cy="256032"/>
          </a:xfrm>
          <a:prstGeom prst="rect">
            <a:avLst/>
          </a:prstGeom>
          <a:noFill/>
        </p:spPr>
        <p:txBody>
          <a:bodyPr wrap="square">
            <a:spAutoFit/>
          </a:bodyPr>
          <a:lstStyle/>
          <a:p>
            <a:pPr algn="l"/>
            <a:r>
              <a:rPr sz="1000" b="0" i="0">
                <a:solidFill>
                  <a:srgbClr val="FFFFFF"/>
                </a:solidFill>
              </a:rPr>
              <a:t>  Violates 2NF</a:t>
            </a:r>
          </a:p>
        </p:txBody>
      </p:sp>
      <p:sp>
        <p:nvSpPr>
          <p:cNvPr id="44" name="Rectangle 43"/>
          <p:cNvSpPr/>
          <p:nvPr/>
        </p:nvSpPr>
        <p:spPr>
          <a:xfrm>
            <a:off x="365760" y="3493008"/>
            <a:ext cx="196596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 y="3511296"/>
            <a:ext cx="1874519" cy="256032"/>
          </a:xfrm>
          <a:prstGeom prst="rect">
            <a:avLst/>
          </a:prstGeom>
          <a:noFill/>
        </p:spPr>
        <p:txBody>
          <a:bodyPr wrap="square">
            <a:spAutoFit/>
          </a:bodyPr>
          <a:lstStyle/>
          <a:p>
            <a:pPr algn="l"/>
            <a:r>
              <a:rPr sz="1000" b="0" i="0">
                <a:solidFill>
                  <a:srgbClr val="FFFFFF"/>
                </a:solidFill>
              </a:rPr>
              <a:t>  Transitive FD</a:t>
            </a:r>
          </a:p>
        </p:txBody>
      </p:sp>
      <p:sp>
        <p:nvSpPr>
          <p:cNvPr id="46" name="Rectangle 45"/>
          <p:cNvSpPr/>
          <p:nvPr/>
        </p:nvSpPr>
        <p:spPr>
          <a:xfrm>
            <a:off x="2377440" y="3493008"/>
            <a:ext cx="315468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23160" y="3511296"/>
            <a:ext cx="3063240" cy="256032"/>
          </a:xfrm>
          <a:prstGeom prst="rect">
            <a:avLst/>
          </a:prstGeom>
          <a:noFill/>
        </p:spPr>
        <p:txBody>
          <a:bodyPr wrap="square">
            <a:spAutoFit/>
          </a:bodyPr>
          <a:lstStyle/>
          <a:p>
            <a:pPr algn="l"/>
            <a:r>
              <a:rPr sz="1000" b="0" i="0">
                <a:solidFill>
                  <a:srgbClr val="FFFFFF"/>
                </a:solidFill>
              </a:rPr>
              <a:t>  A → B → C chain</a:t>
            </a:r>
          </a:p>
        </p:txBody>
      </p:sp>
      <p:sp>
        <p:nvSpPr>
          <p:cNvPr id="48" name="Rectangle 47"/>
          <p:cNvSpPr/>
          <p:nvPr/>
        </p:nvSpPr>
        <p:spPr>
          <a:xfrm>
            <a:off x="5577840" y="3493008"/>
            <a:ext cx="329184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23559" y="3511296"/>
            <a:ext cx="3200400" cy="256032"/>
          </a:xfrm>
          <a:prstGeom prst="rect">
            <a:avLst/>
          </a:prstGeom>
          <a:noFill/>
        </p:spPr>
        <p:txBody>
          <a:bodyPr wrap="square">
            <a:spAutoFit/>
          </a:bodyPr>
          <a:lstStyle/>
          <a:p>
            <a:pPr algn="l"/>
            <a:r>
              <a:rPr sz="1000" b="0" i="0">
                <a:solidFill>
                  <a:srgbClr val="FFFFFF"/>
                </a:solidFill>
              </a:rPr>
              <a:t>  Violates 3NF</a:t>
            </a:r>
          </a:p>
        </p:txBody>
      </p:sp>
      <p:sp>
        <p:nvSpPr>
          <p:cNvPr id="50" name="TextBox 49"/>
          <p:cNvSpPr txBox="1"/>
          <p:nvPr/>
        </p:nvSpPr>
        <p:spPr>
          <a:xfrm>
            <a:off x="9052560" y="1719072"/>
            <a:ext cx="2834640" cy="274320"/>
          </a:xfrm>
          <a:prstGeom prst="rect">
            <a:avLst/>
          </a:prstGeom>
          <a:noFill/>
        </p:spPr>
        <p:txBody>
          <a:bodyPr wrap="square">
            <a:spAutoFit/>
          </a:bodyPr>
          <a:lstStyle/>
          <a:p>
            <a:pPr algn="l"/>
            <a:r>
              <a:rPr sz="1200" b="1" i="0">
                <a:solidFill>
                  <a:srgbClr val="268BD2"/>
                </a:solidFill>
              </a:rPr>
              <a:t>How to Identify FDs:</a:t>
            </a:r>
          </a:p>
        </p:txBody>
      </p:sp>
      <p:sp>
        <p:nvSpPr>
          <p:cNvPr id="51" name="TextBox 50"/>
          <p:cNvSpPr txBox="1"/>
          <p:nvPr/>
        </p:nvSpPr>
        <p:spPr>
          <a:xfrm>
            <a:off x="9052560" y="2029968"/>
            <a:ext cx="2834640" cy="1920240"/>
          </a:xfrm>
          <a:prstGeom prst="rect">
            <a:avLst/>
          </a:prstGeom>
          <a:noFill/>
        </p:spPr>
        <p:txBody>
          <a:bodyPr wrap="square">
            <a:spAutoFit/>
          </a:bodyPr>
          <a:lstStyle/>
          <a:p>
            <a:pPr algn="l"/>
            <a:r>
              <a:rPr sz="1000" b="0">
                <a:solidFill>
                  <a:srgbClr val="FFFFFF"/>
                </a:solidFill>
              </a:rPr>
              <a:t>Step 1: List all attributes in the table</a:t>
            </a:r>
          </a:p>
          <a:p>
            <a:pPr algn="l"/>
            <a:r>
              <a:rPr sz="1000" b="0">
                <a:solidFill>
                  <a:srgbClr val="FFFFFF"/>
                </a:solidFill>
              </a:rPr>
              <a:t>Step 2: Identify the primary / composite key</a:t>
            </a:r>
          </a:p>
          <a:p>
            <a:pPr algn="l"/>
            <a:r>
              <a:rPr sz="1000" b="0">
                <a:solidFill>
                  <a:srgbClr val="FFFFFF"/>
                </a:solidFill>
              </a:rPr>
              <a:t>Step 3: For each non-key attr: 'What uniquely determines this?'</a:t>
            </a:r>
          </a:p>
          <a:p>
            <a:pPr algn="l"/>
            <a:r>
              <a:rPr sz="1000" b="0">
                <a:solidFill>
                  <a:srgbClr val="FFFFFF"/>
                </a:solidFill>
              </a:rPr>
              <a:t>Step 4: Write out all discovered FDs</a:t>
            </a:r>
          </a:p>
          <a:p>
            <a:pPr algn="l"/>
            <a:r>
              <a:rPr sz="1000" b="0">
                <a:solidFill>
                  <a:srgbClr val="FFD166"/>
                </a:solidFill>
              </a:rPr>
              <a:t>Step 5: Check for partial FDs (→2NF) and transitive FDs (→3NF)</a:t>
            </a:r>
          </a:p>
        </p:txBody>
      </p:sp>
      <p:sp>
        <p:nvSpPr>
          <p:cNvPr id="52" name="TextBox 51"/>
          <p:cNvSpPr txBox="1"/>
          <p:nvPr/>
        </p:nvSpPr>
        <p:spPr>
          <a:xfrm>
            <a:off x="365760" y="3895344"/>
            <a:ext cx="7315200" cy="274320"/>
          </a:xfrm>
          <a:prstGeom prst="rect">
            <a:avLst/>
          </a:prstGeom>
          <a:noFill/>
        </p:spPr>
        <p:txBody>
          <a:bodyPr wrap="square">
            <a:spAutoFit/>
          </a:bodyPr>
          <a:lstStyle/>
          <a:p>
            <a:pPr algn="l"/>
            <a:r>
              <a:rPr sz="1200" b="1" i="0">
                <a:solidFill>
                  <a:srgbClr val="268BD2"/>
                </a:solidFill>
              </a:rPr>
              <a:t>Practical Example — Employee Project Table:</a:t>
            </a:r>
          </a:p>
        </p:txBody>
      </p:sp>
      <p:sp>
        <p:nvSpPr>
          <p:cNvPr id="53" name="Rectangle 52"/>
          <p:cNvSpPr/>
          <p:nvPr/>
        </p:nvSpPr>
        <p:spPr>
          <a:xfrm>
            <a:off x="365760" y="4169663"/>
            <a:ext cx="11430000" cy="38404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2920" y="4187952"/>
            <a:ext cx="11155680" cy="347472"/>
          </a:xfrm>
          <a:prstGeom prst="rect">
            <a:avLst/>
          </a:prstGeom>
          <a:noFill/>
        </p:spPr>
        <p:txBody>
          <a:bodyPr wrap="square">
            <a:spAutoFit/>
          </a:bodyPr>
          <a:lstStyle/>
          <a:p>
            <a:pPr algn="l"/>
            <a:r>
              <a:rPr sz="1100" b="0" i="0">
                <a:solidFill>
                  <a:srgbClr val="ECEFF4"/>
                </a:solidFill>
              </a:rPr>
              <a:t>  EmpID | ProjID | EmpName | ProjName | HoursWorked | Dept | DeptManager</a:t>
            </a:r>
          </a:p>
        </p:txBody>
      </p:sp>
      <p:sp>
        <p:nvSpPr>
          <p:cNvPr id="55" name="Rectangle 54"/>
          <p:cNvSpPr/>
          <p:nvPr/>
        </p:nvSpPr>
        <p:spPr>
          <a:xfrm>
            <a:off x="365760" y="4599432"/>
            <a:ext cx="50292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7200" y="4608576"/>
            <a:ext cx="4846320" cy="256032"/>
          </a:xfrm>
          <a:prstGeom prst="rect">
            <a:avLst/>
          </a:prstGeom>
          <a:noFill/>
        </p:spPr>
        <p:txBody>
          <a:bodyPr wrap="square">
            <a:spAutoFit/>
          </a:bodyPr>
          <a:lstStyle/>
          <a:p>
            <a:pPr algn="l"/>
            <a:r>
              <a:rPr sz="1000" b="0" i="0">
                <a:solidFill>
                  <a:srgbClr val="FFFFFF"/>
                </a:solidFill>
              </a:rPr>
              <a:t>  {EmpID, ProjID}  →  HoursWorked</a:t>
            </a:r>
          </a:p>
        </p:txBody>
      </p:sp>
      <p:sp>
        <p:nvSpPr>
          <p:cNvPr id="57" name="Rectangle 56"/>
          <p:cNvSpPr/>
          <p:nvPr/>
        </p:nvSpPr>
        <p:spPr>
          <a:xfrm>
            <a:off x="5440680" y="4599432"/>
            <a:ext cx="64008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4608576"/>
            <a:ext cx="6217920" cy="256032"/>
          </a:xfrm>
          <a:prstGeom prst="rect">
            <a:avLst/>
          </a:prstGeom>
          <a:noFill/>
        </p:spPr>
        <p:txBody>
          <a:bodyPr wrap="square">
            <a:spAutoFit/>
          </a:bodyPr>
          <a:lstStyle/>
          <a:p>
            <a:pPr algn="l"/>
            <a:r>
              <a:rPr sz="1000" b="0" i="0">
                <a:solidFill>
                  <a:srgbClr val="2ECC71"/>
                </a:solidFill>
              </a:rPr>
              <a:t>  ✅  Full FD on composite PK</a:t>
            </a:r>
          </a:p>
        </p:txBody>
      </p:sp>
      <p:sp>
        <p:nvSpPr>
          <p:cNvPr id="59" name="Rectangle 58"/>
          <p:cNvSpPr/>
          <p:nvPr/>
        </p:nvSpPr>
        <p:spPr>
          <a:xfrm>
            <a:off x="365760" y="4892040"/>
            <a:ext cx="50292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57200" y="4901184"/>
            <a:ext cx="4846320" cy="256032"/>
          </a:xfrm>
          <a:prstGeom prst="rect">
            <a:avLst/>
          </a:prstGeom>
          <a:noFill/>
        </p:spPr>
        <p:txBody>
          <a:bodyPr wrap="square">
            <a:spAutoFit/>
          </a:bodyPr>
          <a:lstStyle/>
          <a:p>
            <a:pPr algn="l"/>
            <a:r>
              <a:rPr sz="1000" b="0" i="0">
                <a:solidFill>
                  <a:srgbClr val="FFFFFF"/>
                </a:solidFill>
              </a:rPr>
              <a:t>  EmpID           →  EmpName</a:t>
            </a:r>
          </a:p>
        </p:txBody>
      </p:sp>
      <p:sp>
        <p:nvSpPr>
          <p:cNvPr id="61" name="Rectangle 60"/>
          <p:cNvSpPr/>
          <p:nvPr/>
        </p:nvSpPr>
        <p:spPr>
          <a:xfrm>
            <a:off x="5440680" y="4892040"/>
            <a:ext cx="64008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32120" y="4901184"/>
            <a:ext cx="6217920" cy="256032"/>
          </a:xfrm>
          <a:prstGeom prst="rect">
            <a:avLst/>
          </a:prstGeom>
          <a:noFill/>
        </p:spPr>
        <p:txBody>
          <a:bodyPr wrap="square">
            <a:spAutoFit/>
          </a:bodyPr>
          <a:lstStyle/>
          <a:p>
            <a:pPr algn="l"/>
            <a:r>
              <a:rPr sz="1000" b="0" i="0">
                <a:solidFill>
                  <a:srgbClr val="FFD166"/>
                </a:solidFill>
              </a:rPr>
              <a:t>  ⚠  Partial FD (only EmpID needed)</a:t>
            </a:r>
          </a:p>
        </p:txBody>
      </p:sp>
      <p:sp>
        <p:nvSpPr>
          <p:cNvPr id="63" name="Rectangle 62"/>
          <p:cNvSpPr/>
          <p:nvPr/>
        </p:nvSpPr>
        <p:spPr>
          <a:xfrm>
            <a:off x="365760" y="5184648"/>
            <a:ext cx="50292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5193792"/>
            <a:ext cx="4846320" cy="256032"/>
          </a:xfrm>
          <a:prstGeom prst="rect">
            <a:avLst/>
          </a:prstGeom>
          <a:noFill/>
        </p:spPr>
        <p:txBody>
          <a:bodyPr wrap="square">
            <a:spAutoFit/>
          </a:bodyPr>
          <a:lstStyle/>
          <a:p>
            <a:pPr algn="l"/>
            <a:r>
              <a:rPr sz="1000" b="0" i="0">
                <a:solidFill>
                  <a:srgbClr val="FFFFFF"/>
                </a:solidFill>
              </a:rPr>
              <a:t>  ProjID          →  ProjName</a:t>
            </a:r>
          </a:p>
        </p:txBody>
      </p:sp>
      <p:sp>
        <p:nvSpPr>
          <p:cNvPr id="65" name="Rectangle 64"/>
          <p:cNvSpPr/>
          <p:nvPr/>
        </p:nvSpPr>
        <p:spPr>
          <a:xfrm>
            <a:off x="5440680" y="5184648"/>
            <a:ext cx="64008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532120" y="5193792"/>
            <a:ext cx="6217920" cy="256032"/>
          </a:xfrm>
          <a:prstGeom prst="rect">
            <a:avLst/>
          </a:prstGeom>
          <a:noFill/>
        </p:spPr>
        <p:txBody>
          <a:bodyPr wrap="square">
            <a:spAutoFit/>
          </a:bodyPr>
          <a:lstStyle/>
          <a:p>
            <a:pPr algn="l"/>
            <a:r>
              <a:rPr sz="1000" b="0" i="0">
                <a:solidFill>
                  <a:srgbClr val="FFD166"/>
                </a:solidFill>
              </a:rPr>
              <a:t>  ⚠  Partial FD (only ProjID needed)</a:t>
            </a:r>
          </a:p>
        </p:txBody>
      </p:sp>
      <p:sp>
        <p:nvSpPr>
          <p:cNvPr id="67" name="Rectangle 66"/>
          <p:cNvSpPr/>
          <p:nvPr/>
        </p:nvSpPr>
        <p:spPr>
          <a:xfrm>
            <a:off x="365760" y="5477256"/>
            <a:ext cx="50292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57200" y="5486400"/>
            <a:ext cx="4846320" cy="256032"/>
          </a:xfrm>
          <a:prstGeom prst="rect">
            <a:avLst/>
          </a:prstGeom>
          <a:noFill/>
        </p:spPr>
        <p:txBody>
          <a:bodyPr wrap="square">
            <a:spAutoFit/>
          </a:bodyPr>
          <a:lstStyle/>
          <a:p>
            <a:pPr algn="l"/>
            <a:r>
              <a:rPr sz="1000" b="0" i="0">
                <a:solidFill>
                  <a:srgbClr val="FFFFFF"/>
                </a:solidFill>
              </a:rPr>
              <a:t>  Dept            →  DeptManager</a:t>
            </a:r>
          </a:p>
        </p:txBody>
      </p:sp>
      <p:sp>
        <p:nvSpPr>
          <p:cNvPr id="69" name="Rectangle 68"/>
          <p:cNvSpPr/>
          <p:nvPr/>
        </p:nvSpPr>
        <p:spPr>
          <a:xfrm>
            <a:off x="5440680" y="5477256"/>
            <a:ext cx="640080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532120" y="5486400"/>
            <a:ext cx="6217920" cy="256032"/>
          </a:xfrm>
          <a:prstGeom prst="rect">
            <a:avLst/>
          </a:prstGeom>
          <a:noFill/>
        </p:spPr>
        <p:txBody>
          <a:bodyPr wrap="square">
            <a:spAutoFit/>
          </a:bodyPr>
          <a:lstStyle/>
          <a:p>
            <a:pPr algn="l"/>
            <a:r>
              <a:rPr sz="1000" b="0" i="0">
                <a:solidFill>
                  <a:srgbClr val="E74C3C"/>
                </a:solidFill>
              </a:rPr>
              <a:t>  ⚠  Transitive FD (through Dept)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D. Normalization Process</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The Normalization Process — Framework &amp; Decomposition</a:t>
            </a:r>
          </a:p>
        </p:txBody>
      </p:sp>
      <p:sp>
        <p:nvSpPr>
          <p:cNvPr id="8" name="Rectangle 7"/>
          <p:cNvSpPr/>
          <p:nvPr/>
        </p:nvSpPr>
        <p:spPr>
          <a:xfrm>
            <a:off x="365760" y="1207008"/>
            <a:ext cx="6583680" cy="420624"/>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252728"/>
            <a:ext cx="6473952" cy="347472"/>
          </a:xfrm>
          <a:prstGeom prst="rect">
            <a:avLst/>
          </a:prstGeom>
          <a:noFill/>
        </p:spPr>
        <p:txBody>
          <a:bodyPr wrap="square">
            <a:spAutoFit/>
          </a:bodyPr>
          <a:lstStyle/>
          <a:p>
            <a:pPr algn="l"/>
            <a:r>
              <a:rPr sz="1200" b="1" i="0">
                <a:solidFill>
                  <a:srgbClr val="FFFFFF"/>
                </a:solidFill>
              </a:rPr>
              <a:t>   RAW / UNNORMALIZED DATA (UNF)</a:t>
            </a:r>
          </a:p>
        </p:txBody>
      </p:sp>
      <p:sp>
        <p:nvSpPr>
          <p:cNvPr id="10" name="TextBox 9"/>
          <p:cNvSpPr txBox="1"/>
          <p:nvPr/>
        </p:nvSpPr>
        <p:spPr>
          <a:xfrm>
            <a:off x="3474720" y="1591056"/>
            <a:ext cx="365760" cy="219456"/>
          </a:xfrm>
          <a:prstGeom prst="rect">
            <a:avLst/>
          </a:prstGeom>
          <a:noFill/>
        </p:spPr>
        <p:txBody>
          <a:bodyPr wrap="square">
            <a:spAutoFit/>
          </a:bodyPr>
          <a:lstStyle/>
          <a:p>
            <a:pPr algn="ctr"/>
            <a:r>
              <a:rPr sz="1100" b="0" i="0">
                <a:solidFill>
                  <a:srgbClr val="ECEFF4"/>
                </a:solidFill>
              </a:rPr>
              <a:t>▼</a:t>
            </a:r>
          </a:p>
        </p:txBody>
      </p:sp>
      <p:sp>
        <p:nvSpPr>
          <p:cNvPr id="11" name="Rectangle 10"/>
          <p:cNvSpPr/>
          <p:nvPr/>
        </p:nvSpPr>
        <p:spPr>
          <a:xfrm>
            <a:off x="365760" y="1664208"/>
            <a:ext cx="6583680" cy="420624"/>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1709928"/>
            <a:ext cx="6473952" cy="347472"/>
          </a:xfrm>
          <a:prstGeom prst="rect">
            <a:avLst/>
          </a:prstGeom>
          <a:noFill/>
        </p:spPr>
        <p:txBody>
          <a:bodyPr wrap="square">
            <a:spAutoFit/>
          </a:bodyPr>
          <a:lstStyle/>
          <a:p>
            <a:pPr algn="l"/>
            <a:r>
              <a:rPr sz="1200" b="0" i="0">
                <a:solidFill>
                  <a:srgbClr val="FFFFFF"/>
                </a:solidFill>
              </a:rPr>
              <a:t>   Step 1 → 1NF  :  Remove repeating groups → atomic values</a:t>
            </a:r>
          </a:p>
        </p:txBody>
      </p:sp>
      <p:sp>
        <p:nvSpPr>
          <p:cNvPr id="13" name="TextBox 12"/>
          <p:cNvSpPr txBox="1"/>
          <p:nvPr/>
        </p:nvSpPr>
        <p:spPr>
          <a:xfrm>
            <a:off x="3474720" y="2048256"/>
            <a:ext cx="365760" cy="219456"/>
          </a:xfrm>
          <a:prstGeom prst="rect">
            <a:avLst/>
          </a:prstGeom>
          <a:noFill/>
        </p:spPr>
        <p:txBody>
          <a:bodyPr wrap="square">
            <a:spAutoFit/>
          </a:bodyPr>
          <a:lstStyle/>
          <a:p>
            <a:pPr algn="ctr"/>
            <a:r>
              <a:rPr sz="1100" b="0" i="0">
                <a:solidFill>
                  <a:srgbClr val="ECEFF4"/>
                </a:solidFill>
              </a:rPr>
              <a:t>▼</a:t>
            </a:r>
          </a:p>
        </p:txBody>
      </p:sp>
      <p:sp>
        <p:nvSpPr>
          <p:cNvPr id="14" name="Rectangle 13"/>
          <p:cNvSpPr/>
          <p:nvPr/>
        </p:nvSpPr>
        <p:spPr>
          <a:xfrm>
            <a:off x="365760" y="2121408"/>
            <a:ext cx="6583680" cy="420624"/>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2167128"/>
            <a:ext cx="6473952" cy="347472"/>
          </a:xfrm>
          <a:prstGeom prst="rect">
            <a:avLst/>
          </a:prstGeom>
          <a:noFill/>
        </p:spPr>
        <p:txBody>
          <a:bodyPr wrap="square">
            <a:spAutoFit/>
          </a:bodyPr>
          <a:lstStyle/>
          <a:p>
            <a:pPr algn="l"/>
            <a:r>
              <a:rPr sz="1200" b="0" i="0">
                <a:solidFill>
                  <a:srgbClr val="FFFFFF"/>
                </a:solidFill>
              </a:rPr>
              <a:t>   Step 2 → 2NF  :  Remove partial dependencies</a:t>
            </a:r>
          </a:p>
        </p:txBody>
      </p:sp>
      <p:sp>
        <p:nvSpPr>
          <p:cNvPr id="16" name="TextBox 15"/>
          <p:cNvSpPr txBox="1"/>
          <p:nvPr/>
        </p:nvSpPr>
        <p:spPr>
          <a:xfrm>
            <a:off x="3474720" y="2505456"/>
            <a:ext cx="365760" cy="219456"/>
          </a:xfrm>
          <a:prstGeom prst="rect">
            <a:avLst/>
          </a:prstGeom>
          <a:noFill/>
        </p:spPr>
        <p:txBody>
          <a:bodyPr wrap="square">
            <a:spAutoFit/>
          </a:bodyPr>
          <a:lstStyle/>
          <a:p>
            <a:pPr algn="ctr"/>
            <a:r>
              <a:rPr sz="1100" b="0" i="0">
                <a:solidFill>
                  <a:srgbClr val="ECEFF4"/>
                </a:solidFill>
              </a:rPr>
              <a:t>▼</a:t>
            </a:r>
          </a:p>
        </p:txBody>
      </p:sp>
      <p:sp>
        <p:nvSpPr>
          <p:cNvPr id="17" name="Rectangle 16"/>
          <p:cNvSpPr/>
          <p:nvPr/>
        </p:nvSpPr>
        <p:spPr>
          <a:xfrm>
            <a:off x="365760" y="2578608"/>
            <a:ext cx="6583680" cy="420624"/>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 y="2624328"/>
            <a:ext cx="6473952" cy="347472"/>
          </a:xfrm>
          <a:prstGeom prst="rect">
            <a:avLst/>
          </a:prstGeom>
          <a:noFill/>
        </p:spPr>
        <p:txBody>
          <a:bodyPr wrap="square">
            <a:spAutoFit/>
          </a:bodyPr>
          <a:lstStyle/>
          <a:p>
            <a:pPr algn="l"/>
            <a:r>
              <a:rPr sz="1200" b="0" i="0">
                <a:solidFill>
                  <a:srgbClr val="FFFFFF"/>
                </a:solidFill>
              </a:rPr>
              <a:t>   Step 3 → 3NF  :  Remove transitive dependencies</a:t>
            </a:r>
          </a:p>
        </p:txBody>
      </p:sp>
      <p:sp>
        <p:nvSpPr>
          <p:cNvPr id="19" name="TextBox 18"/>
          <p:cNvSpPr txBox="1"/>
          <p:nvPr/>
        </p:nvSpPr>
        <p:spPr>
          <a:xfrm>
            <a:off x="3474720" y="2962656"/>
            <a:ext cx="365760" cy="219456"/>
          </a:xfrm>
          <a:prstGeom prst="rect">
            <a:avLst/>
          </a:prstGeom>
          <a:noFill/>
        </p:spPr>
        <p:txBody>
          <a:bodyPr wrap="square">
            <a:spAutoFit/>
          </a:bodyPr>
          <a:lstStyle/>
          <a:p>
            <a:pPr algn="ctr"/>
            <a:r>
              <a:rPr sz="1100" b="0" i="0">
                <a:solidFill>
                  <a:srgbClr val="ECEFF4"/>
                </a:solidFill>
              </a:rPr>
              <a:t>▼</a:t>
            </a:r>
          </a:p>
        </p:txBody>
      </p:sp>
      <p:sp>
        <p:nvSpPr>
          <p:cNvPr id="20" name="Rectangle 19"/>
          <p:cNvSpPr/>
          <p:nvPr/>
        </p:nvSpPr>
        <p:spPr>
          <a:xfrm>
            <a:off x="365760" y="3035808"/>
            <a:ext cx="6583680" cy="420624"/>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 y="3081528"/>
            <a:ext cx="6473952" cy="347472"/>
          </a:xfrm>
          <a:prstGeom prst="rect">
            <a:avLst/>
          </a:prstGeom>
          <a:noFill/>
        </p:spPr>
        <p:txBody>
          <a:bodyPr wrap="square">
            <a:spAutoFit/>
          </a:bodyPr>
          <a:lstStyle/>
          <a:p>
            <a:pPr algn="l"/>
            <a:r>
              <a:rPr sz="1200" b="0" i="0">
                <a:solidFill>
                  <a:srgbClr val="FFFFFF"/>
                </a:solidFill>
              </a:rPr>
              <a:t>   Step 4 → BCNF :  Every determinant is a superkey</a:t>
            </a:r>
          </a:p>
        </p:txBody>
      </p:sp>
      <p:sp>
        <p:nvSpPr>
          <p:cNvPr id="22" name="TextBox 21"/>
          <p:cNvSpPr txBox="1"/>
          <p:nvPr/>
        </p:nvSpPr>
        <p:spPr>
          <a:xfrm>
            <a:off x="3474720" y="3419856"/>
            <a:ext cx="365760" cy="219456"/>
          </a:xfrm>
          <a:prstGeom prst="rect">
            <a:avLst/>
          </a:prstGeom>
          <a:noFill/>
        </p:spPr>
        <p:txBody>
          <a:bodyPr wrap="square">
            <a:spAutoFit/>
          </a:bodyPr>
          <a:lstStyle/>
          <a:p>
            <a:pPr algn="ctr"/>
            <a:r>
              <a:rPr sz="1100" b="0" i="0">
                <a:solidFill>
                  <a:srgbClr val="ECEFF4"/>
                </a:solidFill>
              </a:rPr>
              <a:t>▼</a:t>
            </a:r>
          </a:p>
        </p:txBody>
      </p:sp>
      <p:sp>
        <p:nvSpPr>
          <p:cNvPr id="23" name="Rectangle 22"/>
          <p:cNvSpPr/>
          <p:nvPr/>
        </p:nvSpPr>
        <p:spPr>
          <a:xfrm>
            <a:off x="365760" y="3493008"/>
            <a:ext cx="6583680" cy="420624"/>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8912" y="3538728"/>
            <a:ext cx="6473952" cy="347472"/>
          </a:xfrm>
          <a:prstGeom prst="rect">
            <a:avLst/>
          </a:prstGeom>
          <a:noFill/>
        </p:spPr>
        <p:txBody>
          <a:bodyPr wrap="square">
            <a:spAutoFit/>
          </a:bodyPr>
          <a:lstStyle/>
          <a:p>
            <a:pPr algn="l"/>
            <a:r>
              <a:rPr sz="1200" b="0" i="0">
                <a:solidFill>
                  <a:srgbClr val="FFFFFF"/>
                </a:solidFill>
              </a:rPr>
              <a:t>   Step 5 → 4NF  :  Remove multi-valued dependencies</a:t>
            </a:r>
          </a:p>
        </p:txBody>
      </p:sp>
      <p:sp>
        <p:nvSpPr>
          <p:cNvPr id="25" name="TextBox 24"/>
          <p:cNvSpPr txBox="1"/>
          <p:nvPr/>
        </p:nvSpPr>
        <p:spPr>
          <a:xfrm>
            <a:off x="3474720" y="3877056"/>
            <a:ext cx="365760" cy="219456"/>
          </a:xfrm>
          <a:prstGeom prst="rect">
            <a:avLst/>
          </a:prstGeom>
          <a:noFill/>
        </p:spPr>
        <p:txBody>
          <a:bodyPr wrap="square">
            <a:spAutoFit/>
          </a:bodyPr>
          <a:lstStyle/>
          <a:p>
            <a:pPr algn="ctr"/>
            <a:r>
              <a:rPr sz="1100" b="0" i="0">
                <a:solidFill>
                  <a:srgbClr val="ECEFF4"/>
                </a:solidFill>
              </a:rPr>
              <a:t>▼</a:t>
            </a:r>
          </a:p>
        </p:txBody>
      </p:sp>
      <p:sp>
        <p:nvSpPr>
          <p:cNvPr id="26" name="Rectangle 25"/>
          <p:cNvSpPr/>
          <p:nvPr/>
        </p:nvSpPr>
        <p:spPr>
          <a:xfrm>
            <a:off x="365760" y="3950208"/>
            <a:ext cx="6583680" cy="420624"/>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 y="3995928"/>
            <a:ext cx="6473952" cy="347472"/>
          </a:xfrm>
          <a:prstGeom prst="rect">
            <a:avLst/>
          </a:prstGeom>
          <a:noFill/>
        </p:spPr>
        <p:txBody>
          <a:bodyPr wrap="square">
            <a:spAutoFit/>
          </a:bodyPr>
          <a:lstStyle/>
          <a:p>
            <a:pPr algn="l"/>
            <a:r>
              <a:rPr sz="1200" b="0" i="0">
                <a:solidFill>
                  <a:srgbClr val="FFFFFF"/>
                </a:solidFill>
              </a:rPr>
              <a:t>   Step 6 → 5NF  :  Remove join dependencies</a:t>
            </a:r>
          </a:p>
        </p:txBody>
      </p:sp>
      <p:sp>
        <p:nvSpPr>
          <p:cNvPr id="28" name="TextBox 27"/>
          <p:cNvSpPr txBox="1"/>
          <p:nvPr/>
        </p:nvSpPr>
        <p:spPr>
          <a:xfrm>
            <a:off x="3474720" y="4334256"/>
            <a:ext cx="365760" cy="219456"/>
          </a:xfrm>
          <a:prstGeom prst="rect">
            <a:avLst/>
          </a:prstGeom>
          <a:noFill/>
        </p:spPr>
        <p:txBody>
          <a:bodyPr wrap="square">
            <a:spAutoFit/>
          </a:bodyPr>
          <a:lstStyle/>
          <a:p>
            <a:pPr algn="ctr"/>
            <a:r>
              <a:rPr sz="1100" b="0" i="0">
                <a:solidFill>
                  <a:srgbClr val="ECEFF4"/>
                </a:solidFill>
              </a:rPr>
              <a:t>▼</a:t>
            </a:r>
          </a:p>
        </p:txBody>
      </p:sp>
      <p:sp>
        <p:nvSpPr>
          <p:cNvPr id="29" name="Rectangle 28"/>
          <p:cNvSpPr/>
          <p:nvPr/>
        </p:nvSpPr>
        <p:spPr>
          <a:xfrm>
            <a:off x="365760" y="4407408"/>
            <a:ext cx="6583680" cy="420624"/>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8912" y="4453128"/>
            <a:ext cx="6473952" cy="347472"/>
          </a:xfrm>
          <a:prstGeom prst="rect">
            <a:avLst/>
          </a:prstGeom>
          <a:noFill/>
        </p:spPr>
        <p:txBody>
          <a:bodyPr wrap="square">
            <a:spAutoFit/>
          </a:bodyPr>
          <a:lstStyle/>
          <a:p>
            <a:pPr algn="l"/>
            <a:r>
              <a:rPr sz="1200" b="1" i="0">
                <a:solidFill>
                  <a:srgbClr val="FFFFFF"/>
                </a:solidFill>
              </a:rPr>
              <a:t>   FULLY NORMALIZED DATABASE ✅</a:t>
            </a:r>
          </a:p>
        </p:txBody>
      </p:sp>
      <p:sp>
        <p:nvSpPr>
          <p:cNvPr id="31" name="Rectangle 30"/>
          <p:cNvSpPr/>
          <p:nvPr/>
        </p:nvSpPr>
        <p:spPr>
          <a:xfrm>
            <a:off x="7315200" y="1207008"/>
            <a:ext cx="4663440" cy="310896"/>
          </a:xfrm>
          <a:prstGeom prst="rect">
            <a:avLst/>
          </a:prstGeom>
          <a:solidFill>
            <a:srgbClr val="0D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0" y="1225296"/>
            <a:ext cx="4480560" cy="274320"/>
          </a:xfrm>
          <a:prstGeom prst="rect">
            <a:avLst/>
          </a:prstGeom>
          <a:noFill/>
        </p:spPr>
        <p:txBody>
          <a:bodyPr wrap="square">
            <a:spAutoFit/>
          </a:bodyPr>
          <a:lstStyle/>
          <a:p>
            <a:pPr algn="l"/>
            <a:r>
              <a:rPr sz="1300" b="1" i="0">
                <a:solidFill>
                  <a:srgbClr val="2ECC71"/>
                </a:solidFill>
              </a:rPr>
              <a:t>✅ Lossless-Join Decomposition</a:t>
            </a:r>
          </a:p>
        </p:txBody>
      </p:sp>
      <p:sp>
        <p:nvSpPr>
          <p:cNvPr id="33" name="TextBox 32"/>
          <p:cNvSpPr txBox="1"/>
          <p:nvPr/>
        </p:nvSpPr>
        <p:spPr>
          <a:xfrm>
            <a:off x="7315200" y="1536192"/>
            <a:ext cx="4663440" cy="1005840"/>
          </a:xfrm>
          <a:prstGeom prst="rect">
            <a:avLst/>
          </a:prstGeom>
          <a:noFill/>
        </p:spPr>
        <p:txBody>
          <a:bodyPr wrap="square">
            <a:spAutoFit/>
          </a:bodyPr>
          <a:lstStyle/>
          <a:p>
            <a:pPr algn="l"/>
            <a:r>
              <a:rPr sz="1100" b="0">
                <a:solidFill>
                  <a:srgbClr val="FFFFFF"/>
                </a:solidFill>
              </a:rPr>
              <a:t>Joining all decomposed tables returns</a:t>
            </a:r>
          </a:p>
          <a:p>
            <a:pPr algn="l"/>
            <a:r>
              <a:rPr sz="1100" b="0">
                <a:solidFill>
                  <a:srgbClr val="FFFFFF"/>
                </a:solidFill>
              </a:rPr>
              <a:t>EXACTLY the original (no spurious tuples).</a:t>
            </a:r>
          </a:p>
          <a:p>
            <a:pPr algn="l"/>
            <a:r>
              <a:rPr sz="1100" b="0">
                <a:solidFill>
                  <a:srgbClr val="FFFFFF"/>
                </a:solidFill>
              </a:rPr>
              <a:t>Test: R1 ∩ R2 → R1  OR  R1 ∩ R2 → R2</a:t>
            </a:r>
          </a:p>
          <a:p>
            <a:pPr algn="l"/>
            <a:r>
              <a:rPr sz="1100" b="0">
                <a:solidFill>
                  <a:srgbClr val="FFFFFF"/>
                </a:solidFill>
              </a:rPr>
              <a:t>(common attr is a key in ≥1 table)</a:t>
            </a:r>
          </a:p>
        </p:txBody>
      </p:sp>
      <p:sp>
        <p:nvSpPr>
          <p:cNvPr id="34" name="Rectangle 33"/>
          <p:cNvSpPr/>
          <p:nvPr/>
        </p:nvSpPr>
        <p:spPr>
          <a:xfrm>
            <a:off x="7315200" y="2596896"/>
            <a:ext cx="4663440" cy="310896"/>
          </a:xfrm>
          <a:prstGeom prst="rect">
            <a:avLst/>
          </a:prstGeom>
          <a:solidFill>
            <a:srgbClr val="0D2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0" y="2615184"/>
            <a:ext cx="4480560" cy="274320"/>
          </a:xfrm>
          <a:prstGeom prst="rect">
            <a:avLst/>
          </a:prstGeom>
          <a:noFill/>
        </p:spPr>
        <p:txBody>
          <a:bodyPr wrap="square">
            <a:spAutoFit/>
          </a:bodyPr>
          <a:lstStyle/>
          <a:p>
            <a:pPr algn="l"/>
            <a:r>
              <a:rPr sz="1300" b="1" i="0">
                <a:solidFill>
                  <a:srgbClr val="268BD2"/>
                </a:solidFill>
              </a:rPr>
              <a:t>✅ Dependency-Preserving Decomposition</a:t>
            </a:r>
          </a:p>
        </p:txBody>
      </p:sp>
      <p:sp>
        <p:nvSpPr>
          <p:cNvPr id="36" name="TextBox 35"/>
          <p:cNvSpPr txBox="1"/>
          <p:nvPr/>
        </p:nvSpPr>
        <p:spPr>
          <a:xfrm>
            <a:off x="7315200" y="2926080"/>
            <a:ext cx="4663440" cy="1005840"/>
          </a:xfrm>
          <a:prstGeom prst="rect">
            <a:avLst/>
          </a:prstGeom>
          <a:noFill/>
        </p:spPr>
        <p:txBody>
          <a:bodyPr wrap="square">
            <a:spAutoFit/>
          </a:bodyPr>
          <a:lstStyle/>
          <a:p>
            <a:pPr algn="l"/>
            <a:r>
              <a:rPr sz="1100" b="0">
                <a:solidFill>
                  <a:srgbClr val="FFFFFF"/>
                </a:solidFill>
              </a:rPr>
              <a:t>All original FDs can be enforced using</a:t>
            </a:r>
          </a:p>
          <a:p>
            <a:pPr algn="l"/>
            <a:r>
              <a:rPr sz="1100" b="0">
                <a:solidFill>
                  <a:srgbClr val="FFFFFF"/>
                </a:solidFill>
              </a:rPr>
              <a:t>only the decomposed tables (no JOIN needed).</a:t>
            </a:r>
          </a:p>
          <a:p>
            <a:pPr algn="l"/>
            <a:r>
              <a:rPr sz="1100" b="0">
                <a:solidFill>
                  <a:srgbClr val="FFFFFF"/>
                </a:solidFill>
              </a:rPr>
              <a:t>If lost: must use application-level logic</a:t>
            </a:r>
          </a:p>
          <a:p>
            <a:pPr algn="l"/>
            <a:r>
              <a:rPr sz="1100" b="0">
                <a:solidFill>
                  <a:srgbClr val="FFFFFF"/>
                </a:solidFill>
              </a:rPr>
              <a:t>to enforce the business rule.</a:t>
            </a:r>
          </a:p>
        </p:txBody>
      </p:sp>
      <p:sp>
        <p:nvSpPr>
          <p:cNvPr id="37" name="Rectangle 36"/>
          <p:cNvSpPr/>
          <p:nvPr/>
        </p:nvSpPr>
        <p:spPr>
          <a:xfrm>
            <a:off x="7315200" y="3986784"/>
            <a:ext cx="4663440" cy="292608"/>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0" y="3995928"/>
            <a:ext cx="4480560" cy="274320"/>
          </a:xfrm>
          <a:prstGeom prst="rect">
            <a:avLst/>
          </a:prstGeom>
          <a:noFill/>
        </p:spPr>
        <p:txBody>
          <a:bodyPr wrap="square">
            <a:spAutoFit/>
          </a:bodyPr>
          <a:lstStyle/>
          <a:p>
            <a:pPr algn="l"/>
            <a:r>
              <a:rPr sz="1200" b="1" i="0">
                <a:solidFill>
                  <a:srgbClr val="FFD166"/>
                </a:solidFill>
              </a:rPr>
              <a:t>Trade-off: 3NF vs BCNF</a:t>
            </a:r>
          </a:p>
        </p:txBody>
      </p:sp>
      <p:sp>
        <p:nvSpPr>
          <p:cNvPr id="39" name="Rectangle 38"/>
          <p:cNvSpPr/>
          <p:nvPr/>
        </p:nvSpPr>
        <p:spPr>
          <a:xfrm>
            <a:off x="7315200" y="4279392"/>
            <a:ext cx="4663440" cy="27432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60920" y="4288536"/>
            <a:ext cx="2011679" cy="256032"/>
          </a:xfrm>
          <a:prstGeom prst="rect">
            <a:avLst/>
          </a:prstGeom>
          <a:noFill/>
        </p:spPr>
        <p:txBody>
          <a:bodyPr wrap="square">
            <a:spAutoFit/>
          </a:bodyPr>
          <a:lstStyle/>
          <a:p>
            <a:pPr algn="l"/>
            <a:r>
              <a:rPr sz="1000" b="1" i="0">
                <a:solidFill>
                  <a:srgbClr val="FFD166"/>
                </a:solidFill>
              </a:rPr>
              <a:t>Property</a:t>
            </a:r>
          </a:p>
        </p:txBody>
      </p:sp>
      <p:sp>
        <p:nvSpPr>
          <p:cNvPr id="41" name="TextBox 40"/>
          <p:cNvSpPr txBox="1"/>
          <p:nvPr/>
        </p:nvSpPr>
        <p:spPr>
          <a:xfrm>
            <a:off x="9509760" y="4288536"/>
            <a:ext cx="1188719" cy="256032"/>
          </a:xfrm>
          <a:prstGeom prst="rect">
            <a:avLst/>
          </a:prstGeom>
          <a:noFill/>
        </p:spPr>
        <p:txBody>
          <a:bodyPr wrap="square">
            <a:spAutoFit/>
          </a:bodyPr>
          <a:lstStyle/>
          <a:p>
            <a:pPr algn="l"/>
            <a:r>
              <a:rPr sz="1000" b="1" i="0">
                <a:solidFill>
                  <a:srgbClr val="FFD166"/>
                </a:solidFill>
              </a:rPr>
              <a:t>3NF</a:t>
            </a:r>
          </a:p>
        </p:txBody>
      </p:sp>
      <p:sp>
        <p:nvSpPr>
          <p:cNvPr id="42" name="TextBox 41"/>
          <p:cNvSpPr txBox="1"/>
          <p:nvPr/>
        </p:nvSpPr>
        <p:spPr>
          <a:xfrm>
            <a:off x="10789920" y="4288536"/>
            <a:ext cx="1188719" cy="256032"/>
          </a:xfrm>
          <a:prstGeom prst="rect">
            <a:avLst/>
          </a:prstGeom>
          <a:noFill/>
        </p:spPr>
        <p:txBody>
          <a:bodyPr wrap="square">
            <a:spAutoFit/>
          </a:bodyPr>
          <a:lstStyle/>
          <a:p>
            <a:pPr algn="l"/>
            <a:r>
              <a:rPr sz="1000" b="1" i="0">
                <a:solidFill>
                  <a:srgbClr val="FFD166"/>
                </a:solidFill>
              </a:rPr>
              <a:t>BCNF</a:t>
            </a:r>
          </a:p>
        </p:txBody>
      </p:sp>
      <p:sp>
        <p:nvSpPr>
          <p:cNvPr id="43" name="Rectangle 42"/>
          <p:cNvSpPr/>
          <p:nvPr/>
        </p:nvSpPr>
        <p:spPr>
          <a:xfrm>
            <a:off x="7315200" y="4553712"/>
            <a:ext cx="210312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60920" y="4562856"/>
            <a:ext cx="2011679" cy="256032"/>
          </a:xfrm>
          <a:prstGeom prst="rect">
            <a:avLst/>
          </a:prstGeom>
          <a:noFill/>
        </p:spPr>
        <p:txBody>
          <a:bodyPr wrap="square">
            <a:spAutoFit/>
          </a:bodyPr>
          <a:lstStyle/>
          <a:p>
            <a:pPr algn="l"/>
            <a:r>
              <a:rPr sz="1000" b="0" i="0">
                <a:solidFill>
                  <a:srgbClr val="FFFFFF"/>
                </a:solidFill>
              </a:rPr>
              <a:t>Lossless</a:t>
            </a:r>
          </a:p>
        </p:txBody>
      </p:sp>
      <p:sp>
        <p:nvSpPr>
          <p:cNvPr id="45" name="Rectangle 44"/>
          <p:cNvSpPr/>
          <p:nvPr/>
        </p:nvSpPr>
        <p:spPr>
          <a:xfrm>
            <a:off x="9464040" y="4553712"/>
            <a:ext cx="128016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09760" y="4562856"/>
            <a:ext cx="1188719" cy="256032"/>
          </a:xfrm>
          <a:prstGeom prst="rect">
            <a:avLst/>
          </a:prstGeom>
          <a:noFill/>
        </p:spPr>
        <p:txBody>
          <a:bodyPr wrap="square">
            <a:spAutoFit/>
          </a:bodyPr>
          <a:lstStyle/>
          <a:p>
            <a:pPr algn="l"/>
            <a:r>
              <a:rPr sz="1000" b="0" i="0">
                <a:solidFill>
                  <a:srgbClr val="2ECC71"/>
                </a:solidFill>
              </a:rPr>
              <a:t>✅ Always</a:t>
            </a:r>
          </a:p>
        </p:txBody>
      </p:sp>
      <p:sp>
        <p:nvSpPr>
          <p:cNvPr id="47" name="Rectangle 46"/>
          <p:cNvSpPr/>
          <p:nvPr/>
        </p:nvSpPr>
        <p:spPr>
          <a:xfrm>
            <a:off x="10744200" y="4553712"/>
            <a:ext cx="1280160" cy="274320"/>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789920" y="4562856"/>
            <a:ext cx="1188719" cy="256032"/>
          </a:xfrm>
          <a:prstGeom prst="rect">
            <a:avLst/>
          </a:prstGeom>
          <a:noFill/>
        </p:spPr>
        <p:txBody>
          <a:bodyPr wrap="square">
            <a:spAutoFit/>
          </a:bodyPr>
          <a:lstStyle/>
          <a:p>
            <a:pPr algn="l"/>
            <a:r>
              <a:rPr sz="1000" b="0" i="0">
                <a:solidFill>
                  <a:srgbClr val="2ECC71"/>
                </a:solidFill>
              </a:rPr>
              <a:t>✅ Always</a:t>
            </a:r>
          </a:p>
        </p:txBody>
      </p:sp>
      <p:sp>
        <p:nvSpPr>
          <p:cNvPr id="49" name="Rectangle 48"/>
          <p:cNvSpPr/>
          <p:nvPr/>
        </p:nvSpPr>
        <p:spPr>
          <a:xfrm>
            <a:off x="7315200" y="4828032"/>
            <a:ext cx="2103120" cy="274320"/>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60920" y="4837176"/>
            <a:ext cx="2011679" cy="256032"/>
          </a:xfrm>
          <a:prstGeom prst="rect">
            <a:avLst/>
          </a:prstGeom>
          <a:noFill/>
        </p:spPr>
        <p:txBody>
          <a:bodyPr wrap="square">
            <a:spAutoFit/>
          </a:bodyPr>
          <a:lstStyle/>
          <a:p>
            <a:pPr algn="l"/>
            <a:r>
              <a:rPr sz="1000" b="0" i="0">
                <a:solidFill>
                  <a:srgbClr val="FFFFFF"/>
                </a:solidFill>
              </a:rPr>
              <a:t>Dependency-preserving</a:t>
            </a:r>
          </a:p>
        </p:txBody>
      </p:sp>
      <p:sp>
        <p:nvSpPr>
          <p:cNvPr id="51" name="Rectangle 50"/>
          <p:cNvSpPr/>
          <p:nvPr/>
        </p:nvSpPr>
        <p:spPr>
          <a:xfrm>
            <a:off x="9464040" y="4828032"/>
            <a:ext cx="1280160" cy="274320"/>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509760" y="4837176"/>
            <a:ext cx="1188719" cy="256032"/>
          </a:xfrm>
          <a:prstGeom prst="rect">
            <a:avLst/>
          </a:prstGeom>
          <a:noFill/>
        </p:spPr>
        <p:txBody>
          <a:bodyPr wrap="square">
            <a:spAutoFit/>
          </a:bodyPr>
          <a:lstStyle/>
          <a:p>
            <a:pPr algn="l"/>
            <a:r>
              <a:rPr sz="1000" b="0" i="0">
                <a:solidFill>
                  <a:srgbClr val="2ECC71"/>
                </a:solidFill>
              </a:rPr>
              <a:t>✅ Always</a:t>
            </a:r>
          </a:p>
        </p:txBody>
      </p:sp>
      <p:sp>
        <p:nvSpPr>
          <p:cNvPr id="53" name="Rectangle 52"/>
          <p:cNvSpPr/>
          <p:nvPr/>
        </p:nvSpPr>
        <p:spPr>
          <a:xfrm>
            <a:off x="10744200" y="4828032"/>
            <a:ext cx="1280160" cy="274320"/>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789920" y="4837176"/>
            <a:ext cx="1188719" cy="256032"/>
          </a:xfrm>
          <a:prstGeom prst="rect">
            <a:avLst/>
          </a:prstGeom>
          <a:noFill/>
        </p:spPr>
        <p:txBody>
          <a:bodyPr wrap="square">
            <a:spAutoFit/>
          </a:bodyPr>
          <a:lstStyle/>
          <a:p>
            <a:pPr algn="l"/>
            <a:r>
              <a:rPr sz="1000" b="0" i="0">
                <a:solidFill>
                  <a:srgbClr val="E74C3C"/>
                </a:solidFill>
              </a:rPr>
              <a:t>❌ Not always</a:t>
            </a:r>
          </a:p>
        </p:txBody>
      </p:sp>
      <p:sp>
        <p:nvSpPr>
          <p:cNvPr id="55" name="Rectangle 54"/>
          <p:cNvSpPr/>
          <p:nvPr/>
        </p:nvSpPr>
        <p:spPr>
          <a:xfrm>
            <a:off x="7315200" y="5138928"/>
            <a:ext cx="4663440" cy="685800"/>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06640" y="5157216"/>
            <a:ext cx="4480560" cy="640080"/>
          </a:xfrm>
          <a:prstGeom prst="rect">
            <a:avLst/>
          </a:prstGeom>
          <a:noFill/>
        </p:spPr>
        <p:txBody>
          <a:bodyPr wrap="square">
            <a:spAutoFit/>
          </a:bodyPr>
          <a:lstStyle/>
          <a:p>
            <a:pPr algn="l"/>
            <a:r>
              <a:rPr sz="1000" b="0" i="0">
                <a:solidFill>
                  <a:srgbClr val="ECEFF4"/>
                </a:solidFill>
              </a:rPr>
              <a:t>  Principles:
  • Work bottom-up (1NF → 5NF)
  • Lossless decomposition is NON-NEGOTIABLE
  • Most systems target 3NF or BCNF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68B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29400"/>
            <a:ext cx="12188952" cy="22860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6601968"/>
            <a:ext cx="2468880" cy="256032"/>
          </a:xfrm>
          <a:prstGeom prst="rect">
            <a:avLst/>
          </a:prstGeom>
          <a:noFill/>
        </p:spPr>
        <p:txBody>
          <a:bodyPr wrap="square">
            <a:spAutoFit/>
          </a:bodyPr>
          <a:lstStyle/>
          <a:p>
            <a:pPr algn="r"/>
            <a:r>
              <a:rPr sz="900" b="0" i="0">
                <a:solidFill>
                  <a:srgbClr val="ECEFF4"/>
                </a:solidFill>
              </a:rPr>
              <a:t>Summary</a:t>
            </a:r>
          </a:p>
        </p:txBody>
      </p:sp>
      <p:sp>
        <p:nvSpPr>
          <p:cNvPr id="6" name="Rectangle 5"/>
          <p:cNvSpPr/>
          <p:nvPr/>
        </p:nvSpPr>
        <p:spPr>
          <a:xfrm>
            <a:off x="365760" y="164592"/>
            <a:ext cx="11457432" cy="86868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82880"/>
            <a:ext cx="11155680" cy="822960"/>
          </a:xfrm>
          <a:prstGeom prst="rect">
            <a:avLst/>
          </a:prstGeom>
          <a:noFill/>
        </p:spPr>
        <p:txBody>
          <a:bodyPr wrap="square">
            <a:spAutoFit/>
          </a:bodyPr>
          <a:lstStyle/>
          <a:p>
            <a:pPr algn="l"/>
            <a:r>
              <a:rPr sz="2800" b="1" i="0">
                <a:solidFill>
                  <a:srgbClr val="FFFFFF"/>
                </a:solidFill>
              </a:rPr>
              <a:t>Summary — Key Takeaways &amp; Best Practices</a:t>
            </a:r>
          </a:p>
        </p:txBody>
      </p:sp>
      <p:sp>
        <p:nvSpPr>
          <p:cNvPr id="8" name="Rectangle 7"/>
          <p:cNvSpPr/>
          <p:nvPr/>
        </p:nvSpPr>
        <p:spPr>
          <a:xfrm>
            <a:off x="365760" y="1207008"/>
            <a:ext cx="8549640" cy="32004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216152"/>
            <a:ext cx="822960" cy="301752"/>
          </a:xfrm>
          <a:prstGeom prst="rect">
            <a:avLst/>
          </a:prstGeom>
          <a:noFill/>
        </p:spPr>
        <p:txBody>
          <a:bodyPr wrap="square">
            <a:spAutoFit/>
          </a:bodyPr>
          <a:lstStyle/>
          <a:p>
            <a:pPr algn="l"/>
            <a:r>
              <a:rPr sz="1200" b="1" i="0">
                <a:solidFill>
                  <a:srgbClr val="FFD166"/>
                </a:solidFill>
              </a:rPr>
              <a:t>NF</a:t>
            </a:r>
          </a:p>
        </p:txBody>
      </p:sp>
      <p:sp>
        <p:nvSpPr>
          <p:cNvPr id="10" name="TextBox 9"/>
          <p:cNvSpPr txBox="1"/>
          <p:nvPr/>
        </p:nvSpPr>
        <p:spPr>
          <a:xfrm>
            <a:off x="1463040" y="1216152"/>
            <a:ext cx="4937760" cy="301752"/>
          </a:xfrm>
          <a:prstGeom prst="rect">
            <a:avLst/>
          </a:prstGeom>
          <a:noFill/>
        </p:spPr>
        <p:txBody>
          <a:bodyPr wrap="square">
            <a:spAutoFit/>
          </a:bodyPr>
          <a:lstStyle/>
          <a:p>
            <a:pPr algn="l"/>
            <a:r>
              <a:rPr sz="1200" b="1" i="0">
                <a:solidFill>
                  <a:srgbClr val="FFD166"/>
                </a:solidFill>
              </a:rPr>
              <a:t>Key Rule</a:t>
            </a:r>
          </a:p>
        </p:txBody>
      </p:sp>
      <p:sp>
        <p:nvSpPr>
          <p:cNvPr id="11" name="TextBox 10"/>
          <p:cNvSpPr txBox="1"/>
          <p:nvPr/>
        </p:nvSpPr>
        <p:spPr>
          <a:xfrm>
            <a:off x="6629400" y="1216152"/>
            <a:ext cx="2194560" cy="301752"/>
          </a:xfrm>
          <a:prstGeom prst="rect">
            <a:avLst/>
          </a:prstGeom>
          <a:noFill/>
        </p:spPr>
        <p:txBody>
          <a:bodyPr wrap="square">
            <a:spAutoFit/>
          </a:bodyPr>
          <a:lstStyle/>
          <a:p>
            <a:pPr algn="l"/>
            <a:r>
              <a:rPr sz="1200" b="1" i="0">
                <a:solidFill>
                  <a:srgbClr val="FFD166"/>
                </a:solidFill>
              </a:rPr>
              <a:t>Removes</a:t>
            </a:r>
          </a:p>
        </p:txBody>
      </p:sp>
      <p:sp>
        <p:nvSpPr>
          <p:cNvPr id="12" name="Rectangle 11"/>
          <p:cNvSpPr/>
          <p:nvPr/>
        </p:nvSpPr>
        <p:spPr>
          <a:xfrm>
            <a:off x="365760" y="1527048"/>
            <a:ext cx="9144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45336"/>
            <a:ext cx="822960" cy="256032"/>
          </a:xfrm>
          <a:prstGeom prst="rect">
            <a:avLst/>
          </a:prstGeom>
          <a:noFill/>
        </p:spPr>
        <p:txBody>
          <a:bodyPr wrap="square">
            <a:spAutoFit/>
          </a:bodyPr>
          <a:lstStyle/>
          <a:p>
            <a:pPr algn="l"/>
            <a:r>
              <a:rPr sz="1100" b="1" i="0">
                <a:solidFill>
                  <a:srgbClr val="E74C3C"/>
                </a:solidFill>
              </a:rPr>
              <a:t>  1NF</a:t>
            </a:r>
          </a:p>
        </p:txBody>
      </p:sp>
      <p:sp>
        <p:nvSpPr>
          <p:cNvPr id="14" name="Rectangle 13"/>
          <p:cNvSpPr/>
          <p:nvPr/>
        </p:nvSpPr>
        <p:spPr>
          <a:xfrm>
            <a:off x="1417320" y="1527048"/>
            <a:ext cx="50292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63040" y="1545336"/>
            <a:ext cx="4937760" cy="256032"/>
          </a:xfrm>
          <a:prstGeom prst="rect">
            <a:avLst/>
          </a:prstGeom>
          <a:noFill/>
        </p:spPr>
        <p:txBody>
          <a:bodyPr wrap="square">
            <a:spAutoFit/>
          </a:bodyPr>
          <a:lstStyle/>
          <a:p>
            <a:pPr algn="l"/>
            <a:r>
              <a:rPr sz="1100" b="0" i="0">
                <a:solidFill>
                  <a:srgbClr val="FFFFFF"/>
                </a:solidFill>
              </a:rPr>
              <a:t>  Atomic values, no repeating groups</a:t>
            </a:r>
          </a:p>
        </p:txBody>
      </p:sp>
      <p:sp>
        <p:nvSpPr>
          <p:cNvPr id="16" name="Rectangle 15"/>
          <p:cNvSpPr/>
          <p:nvPr/>
        </p:nvSpPr>
        <p:spPr>
          <a:xfrm>
            <a:off x="6583680" y="1527048"/>
            <a:ext cx="22860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1545336"/>
            <a:ext cx="2194560" cy="256032"/>
          </a:xfrm>
          <a:prstGeom prst="rect">
            <a:avLst/>
          </a:prstGeom>
          <a:noFill/>
        </p:spPr>
        <p:txBody>
          <a:bodyPr wrap="square">
            <a:spAutoFit/>
          </a:bodyPr>
          <a:lstStyle/>
          <a:p>
            <a:pPr algn="l"/>
            <a:r>
              <a:rPr sz="1100" b="0" i="0">
                <a:solidFill>
                  <a:srgbClr val="FFFFFF"/>
                </a:solidFill>
              </a:rPr>
              <a:t>  —</a:t>
            </a:r>
          </a:p>
        </p:txBody>
      </p:sp>
      <p:sp>
        <p:nvSpPr>
          <p:cNvPr id="18" name="Rectangle 17"/>
          <p:cNvSpPr/>
          <p:nvPr/>
        </p:nvSpPr>
        <p:spPr>
          <a:xfrm>
            <a:off x="365760" y="1819656"/>
            <a:ext cx="9144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1837943"/>
            <a:ext cx="822960" cy="256032"/>
          </a:xfrm>
          <a:prstGeom prst="rect">
            <a:avLst/>
          </a:prstGeom>
          <a:noFill/>
        </p:spPr>
        <p:txBody>
          <a:bodyPr wrap="square">
            <a:spAutoFit/>
          </a:bodyPr>
          <a:lstStyle/>
          <a:p>
            <a:pPr algn="l"/>
            <a:r>
              <a:rPr sz="1100" b="1" i="0">
                <a:solidFill>
                  <a:srgbClr val="F39C12"/>
                </a:solidFill>
              </a:rPr>
              <a:t>  2NF</a:t>
            </a:r>
          </a:p>
        </p:txBody>
      </p:sp>
      <p:sp>
        <p:nvSpPr>
          <p:cNvPr id="20" name="Rectangle 19"/>
          <p:cNvSpPr/>
          <p:nvPr/>
        </p:nvSpPr>
        <p:spPr>
          <a:xfrm>
            <a:off x="1417320" y="1819656"/>
            <a:ext cx="50292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1837943"/>
            <a:ext cx="4937760" cy="256032"/>
          </a:xfrm>
          <a:prstGeom prst="rect">
            <a:avLst/>
          </a:prstGeom>
          <a:noFill/>
        </p:spPr>
        <p:txBody>
          <a:bodyPr wrap="square">
            <a:spAutoFit/>
          </a:bodyPr>
          <a:lstStyle/>
          <a:p>
            <a:pPr algn="l"/>
            <a:r>
              <a:rPr sz="1100" b="0" i="0">
                <a:solidFill>
                  <a:srgbClr val="FFFFFF"/>
                </a:solidFill>
              </a:rPr>
              <a:t>  Full dependency on whole PK</a:t>
            </a:r>
          </a:p>
        </p:txBody>
      </p:sp>
      <p:sp>
        <p:nvSpPr>
          <p:cNvPr id="22" name="Rectangle 21"/>
          <p:cNvSpPr/>
          <p:nvPr/>
        </p:nvSpPr>
        <p:spPr>
          <a:xfrm>
            <a:off x="6583680" y="1819656"/>
            <a:ext cx="22860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1837943"/>
            <a:ext cx="2194560" cy="256032"/>
          </a:xfrm>
          <a:prstGeom prst="rect">
            <a:avLst/>
          </a:prstGeom>
          <a:noFill/>
        </p:spPr>
        <p:txBody>
          <a:bodyPr wrap="square">
            <a:spAutoFit/>
          </a:bodyPr>
          <a:lstStyle/>
          <a:p>
            <a:pPr algn="l"/>
            <a:r>
              <a:rPr sz="1100" b="0" i="0">
                <a:solidFill>
                  <a:srgbClr val="FFFFFF"/>
                </a:solidFill>
              </a:rPr>
              <a:t>  Partial</a:t>
            </a:r>
          </a:p>
        </p:txBody>
      </p:sp>
      <p:sp>
        <p:nvSpPr>
          <p:cNvPr id="24" name="Rectangle 23"/>
          <p:cNvSpPr/>
          <p:nvPr/>
        </p:nvSpPr>
        <p:spPr>
          <a:xfrm>
            <a:off x="365760" y="2112264"/>
            <a:ext cx="9144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2130552"/>
            <a:ext cx="822960" cy="256032"/>
          </a:xfrm>
          <a:prstGeom prst="rect">
            <a:avLst/>
          </a:prstGeom>
          <a:noFill/>
        </p:spPr>
        <p:txBody>
          <a:bodyPr wrap="square">
            <a:spAutoFit/>
          </a:bodyPr>
          <a:lstStyle/>
          <a:p>
            <a:pPr algn="l"/>
            <a:r>
              <a:rPr sz="1100" b="1" i="0">
                <a:solidFill>
                  <a:srgbClr val="27AE60"/>
                </a:solidFill>
              </a:rPr>
              <a:t>  3NF</a:t>
            </a:r>
          </a:p>
        </p:txBody>
      </p:sp>
      <p:sp>
        <p:nvSpPr>
          <p:cNvPr id="26" name="Rectangle 25"/>
          <p:cNvSpPr/>
          <p:nvPr/>
        </p:nvSpPr>
        <p:spPr>
          <a:xfrm>
            <a:off x="1417320" y="2112264"/>
            <a:ext cx="50292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63040" y="2130552"/>
            <a:ext cx="4937760" cy="256032"/>
          </a:xfrm>
          <a:prstGeom prst="rect">
            <a:avLst/>
          </a:prstGeom>
          <a:noFill/>
        </p:spPr>
        <p:txBody>
          <a:bodyPr wrap="square">
            <a:spAutoFit/>
          </a:bodyPr>
          <a:lstStyle/>
          <a:p>
            <a:pPr algn="l"/>
            <a:r>
              <a:rPr sz="1100" b="0" i="0">
                <a:solidFill>
                  <a:srgbClr val="FFFFFF"/>
                </a:solidFill>
              </a:rPr>
              <a:t>  No non-key → non-key dependency</a:t>
            </a:r>
          </a:p>
        </p:txBody>
      </p:sp>
      <p:sp>
        <p:nvSpPr>
          <p:cNvPr id="28" name="Rectangle 27"/>
          <p:cNvSpPr/>
          <p:nvPr/>
        </p:nvSpPr>
        <p:spPr>
          <a:xfrm>
            <a:off x="6583680" y="2112264"/>
            <a:ext cx="22860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2130552"/>
            <a:ext cx="2194560" cy="256032"/>
          </a:xfrm>
          <a:prstGeom prst="rect">
            <a:avLst/>
          </a:prstGeom>
          <a:noFill/>
        </p:spPr>
        <p:txBody>
          <a:bodyPr wrap="square">
            <a:spAutoFit/>
          </a:bodyPr>
          <a:lstStyle/>
          <a:p>
            <a:pPr algn="l"/>
            <a:r>
              <a:rPr sz="1100" b="0" i="0">
                <a:solidFill>
                  <a:srgbClr val="FFFFFF"/>
                </a:solidFill>
              </a:rPr>
              <a:t>  Transitive</a:t>
            </a:r>
          </a:p>
        </p:txBody>
      </p:sp>
      <p:sp>
        <p:nvSpPr>
          <p:cNvPr id="30" name="Rectangle 29"/>
          <p:cNvSpPr/>
          <p:nvPr/>
        </p:nvSpPr>
        <p:spPr>
          <a:xfrm>
            <a:off x="365760" y="2404872"/>
            <a:ext cx="9144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2423160"/>
            <a:ext cx="822960" cy="256032"/>
          </a:xfrm>
          <a:prstGeom prst="rect">
            <a:avLst/>
          </a:prstGeom>
          <a:noFill/>
        </p:spPr>
        <p:txBody>
          <a:bodyPr wrap="square">
            <a:spAutoFit/>
          </a:bodyPr>
          <a:lstStyle/>
          <a:p>
            <a:pPr algn="l"/>
            <a:r>
              <a:rPr sz="1100" b="1" i="0">
                <a:solidFill>
                  <a:srgbClr val="268BD2"/>
                </a:solidFill>
              </a:rPr>
              <a:t>  BCNF</a:t>
            </a:r>
          </a:p>
        </p:txBody>
      </p:sp>
      <p:sp>
        <p:nvSpPr>
          <p:cNvPr id="32" name="Rectangle 31"/>
          <p:cNvSpPr/>
          <p:nvPr/>
        </p:nvSpPr>
        <p:spPr>
          <a:xfrm>
            <a:off x="1417320" y="2404872"/>
            <a:ext cx="50292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63040" y="2423160"/>
            <a:ext cx="4937760" cy="256032"/>
          </a:xfrm>
          <a:prstGeom prst="rect">
            <a:avLst/>
          </a:prstGeom>
          <a:noFill/>
        </p:spPr>
        <p:txBody>
          <a:bodyPr wrap="square">
            <a:spAutoFit/>
          </a:bodyPr>
          <a:lstStyle/>
          <a:p>
            <a:pPr algn="l"/>
            <a:r>
              <a:rPr sz="1100" b="0" i="0">
                <a:solidFill>
                  <a:srgbClr val="FFFFFF"/>
                </a:solidFill>
              </a:rPr>
              <a:t>  Every determinant is a superkey</a:t>
            </a:r>
          </a:p>
        </p:txBody>
      </p:sp>
      <p:sp>
        <p:nvSpPr>
          <p:cNvPr id="34" name="Rectangle 33"/>
          <p:cNvSpPr/>
          <p:nvPr/>
        </p:nvSpPr>
        <p:spPr>
          <a:xfrm>
            <a:off x="6583680" y="2404872"/>
            <a:ext cx="22860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29400" y="2423160"/>
            <a:ext cx="2194560" cy="256032"/>
          </a:xfrm>
          <a:prstGeom prst="rect">
            <a:avLst/>
          </a:prstGeom>
          <a:noFill/>
        </p:spPr>
        <p:txBody>
          <a:bodyPr wrap="square">
            <a:spAutoFit/>
          </a:bodyPr>
          <a:lstStyle/>
          <a:p>
            <a:pPr algn="l"/>
            <a:r>
              <a:rPr sz="1100" b="0" i="0">
                <a:solidFill>
                  <a:srgbClr val="FFFFFF"/>
                </a:solidFill>
              </a:rPr>
              <a:t>  Non-superkey FDs</a:t>
            </a:r>
          </a:p>
        </p:txBody>
      </p:sp>
      <p:sp>
        <p:nvSpPr>
          <p:cNvPr id="36" name="Rectangle 35"/>
          <p:cNvSpPr/>
          <p:nvPr/>
        </p:nvSpPr>
        <p:spPr>
          <a:xfrm>
            <a:off x="365760" y="2697480"/>
            <a:ext cx="9144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2715768"/>
            <a:ext cx="822960" cy="256032"/>
          </a:xfrm>
          <a:prstGeom prst="rect">
            <a:avLst/>
          </a:prstGeom>
          <a:noFill/>
        </p:spPr>
        <p:txBody>
          <a:bodyPr wrap="square">
            <a:spAutoFit/>
          </a:bodyPr>
          <a:lstStyle/>
          <a:p>
            <a:pPr algn="l"/>
            <a:r>
              <a:rPr sz="1100" b="1" i="0">
                <a:solidFill>
                  <a:srgbClr val="167AC6"/>
                </a:solidFill>
              </a:rPr>
              <a:t>  4NF</a:t>
            </a:r>
          </a:p>
        </p:txBody>
      </p:sp>
      <p:sp>
        <p:nvSpPr>
          <p:cNvPr id="38" name="Rectangle 37"/>
          <p:cNvSpPr/>
          <p:nvPr/>
        </p:nvSpPr>
        <p:spPr>
          <a:xfrm>
            <a:off x="1417320" y="2697480"/>
            <a:ext cx="50292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463040" y="2715768"/>
            <a:ext cx="4937760" cy="256032"/>
          </a:xfrm>
          <a:prstGeom prst="rect">
            <a:avLst/>
          </a:prstGeom>
          <a:noFill/>
        </p:spPr>
        <p:txBody>
          <a:bodyPr wrap="square">
            <a:spAutoFit/>
          </a:bodyPr>
          <a:lstStyle/>
          <a:p>
            <a:pPr algn="l"/>
            <a:r>
              <a:rPr sz="1100" b="0" i="0">
                <a:solidFill>
                  <a:srgbClr val="FFFFFF"/>
                </a:solidFill>
              </a:rPr>
              <a:t>  No multi-valued dependencies</a:t>
            </a:r>
          </a:p>
        </p:txBody>
      </p:sp>
      <p:sp>
        <p:nvSpPr>
          <p:cNvPr id="40" name="Rectangle 39"/>
          <p:cNvSpPr/>
          <p:nvPr/>
        </p:nvSpPr>
        <p:spPr>
          <a:xfrm>
            <a:off x="6583680" y="2697480"/>
            <a:ext cx="2286000" cy="292608"/>
          </a:xfrm>
          <a:prstGeom prst="rect">
            <a:avLst/>
          </a:prstGeom>
          <a:solidFill>
            <a:srgbClr val="10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29400" y="2715768"/>
            <a:ext cx="2194560" cy="256032"/>
          </a:xfrm>
          <a:prstGeom prst="rect">
            <a:avLst/>
          </a:prstGeom>
          <a:noFill/>
        </p:spPr>
        <p:txBody>
          <a:bodyPr wrap="square">
            <a:spAutoFit/>
          </a:bodyPr>
          <a:lstStyle/>
          <a:p>
            <a:pPr algn="l"/>
            <a:r>
              <a:rPr sz="1100" b="0" i="0">
                <a:solidFill>
                  <a:srgbClr val="FFFFFF"/>
                </a:solidFill>
              </a:rPr>
              <a:t>  MVDs</a:t>
            </a:r>
          </a:p>
        </p:txBody>
      </p:sp>
      <p:sp>
        <p:nvSpPr>
          <p:cNvPr id="42" name="Rectangle 41"/>
          <p:cNvSpPr/>
          <p:nvPr/>
        </p:nvSpPr>
        <p:spPr>
          <a:xfrm>
            <a:off x="365760" y="2990088"/>
            <a:ext cx="9144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3008376"/>
            <a:ext cx="822960" cy="256032"/>
          </a:xfrm>
          <a:prstGeom prst="rect">
            <a:avLst/>
          </a:prstGeom>
          <a:noFill/>
        </p:spPr>
        <p:txBody>
          <a:bodyPr wrap="square">
            <a:spAutoFit/>
          </a:bodyPr>
          <a:lstStyle/>
          <a:p>
            <a:pPr algn="l"/>
            <a:r>
              <a:rPr sz="1100" b="1" i="0">
                <a:solidFill>
                  <a:srgbClr val="8E44AD"/>
                </a:solidFill>
              </a:rPr>
              <a:t>  5NF</a:t>
            </a:r>
          </a:p>
        </p:txBody>
      </p:sp>
      <p:sp>
        <p:nvSpPr>
          <p:cNvPr id="44" name="Rectangle 43"/>
          <p:cNvSpPr/>
          <p:nvPr/>
        </p:nvSpPr>
        <p:spPr>
          <a:xfrm>
            <a:off x="1417320" y="2990088"/>
            <a:ext cx="50292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463040" y="3008376"/>
            <a:ext cx="4937760" cy="256032"/>
          </a:xfrm>
          <a:prstGeom prst="rect">
            <a:avLst/>
          </a:prstGeom>
          <a:noFill/>
        </p:spPr>
        <p:txBody>
          <a:bodyPr wrap="square">
            <a:spAutoFit/>
          </a:bodyPr>
          <a:lstStyle/>
          <a:p>
            <a:pPr algn="l"/>
            <a:r>
              <a:rPr sz="1100" b="0" i="0">
                <a:solidFill>
                  <a:srgbClr val="FFFFFF"/>
                </a:solidFill>
              </a:rPr>
              <a:t>  No join dependencies beyond candidate keys</a:t>
            </a:r>
          </a:p>
        </p:txBody>
      </p:sp>
      <p:sp>
        <p:nvSpPr>
          <p:cNvPr id="46" name="Rectangle 45"/>
          <p:cNvSpPr/>
          <p:nvPr/>
        </p:nvSpPr>
        <p:spPr>
          <a:xfrm>
            <a:off x="6583680" y="2990088"/>
            <a:ext cx="2286000" cy="29260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29400" y="3008376"/>
            <a:ext cx="2194560" cy="256032"/>
          </a:xfrm>
          <a:prstGeom prst="rect">
            <a:avLst/>
          </a:prstGeom>
          <a:noFill/>
        </p:spPr>
        <p:txBody>
          <a:bodyPr wrap="square">
            <a:spAutoFit/>
          </a:bodyPr>
          <a:lstStyle/>
          <a:p>
            <a:pPr algn="l"/>
            <a:r>
              <a:rPr sz="1100" b="0" i="0">
                <a:solidFill>
                  <a:srgbClr val="FFFFFF"/>
                </a:solidFill>
              </a:rPr>
              <a:t>  Join Dependencies</a:t>
            </a:r>
          </a:p>
        </p:txBody>
      </p:sp>
      <p:sp>
        <p:nvSpPr>
          <p:cNvPr id="48" name="Rectangle 47"/>
          <p:cNvSpPr/>
          <p:nvPr/>
        </p:nvSpPr>
        <p:spPr>
          <a:xfrm>
            <a:off x="9052560" y="1207008"/>
            <a:ext cx="2743200" cy="320040"/>
          </a:xfrm>
          <a:prstGeom prst="rect">
            <a:avLst/>
          </a:prstGeom>
          <a:solidFill>
            <a:srgbClr val="1B48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098280" y="1216152"/>
            <a:ext cx="2651760" cy="301752"/>
          </a:xfrm>
          <a:prstGeom prst="rect">
            <a:avLst/>
          </a:prstGeom>
          <a:noFill/>
        </p:spPr>
        <p:txBody>
          <a:bodyPr wrap="square">
            <a:spAutoFit/>
          </a:bodyPr>
          <a:lstStyle/>
          <a:p>
            <a:pPr algn="l"/>
            <a:r>
              <a:rPr sz="1200" b="1" i="0">
                <a:solidFill>
                  <a:srgbClr val="FFD166"/>
                </a:solidFill>
              </a:rPr>
              <a:t>Core Principles</a:t>
            </a:r>
          </a:p>
        </p:txBody>
      </p:sp>
      <p:sp>
        <p:nvSpPr>
          <p:cNvPr id="50" name="TextBox 49"/>
          <p:cNvSpPr txBox="1"/>
          <p:nvPr/>
        </p:nvSpPr>
        <p:spPr>
          <a:xfrm>
            <a:off x="9052560" y="1527048"/>
            <a:ext cx="2743200" cy="1463040"/>
          </a:xfrm>
          <a:prstGeom prst="rect">
            <a:avLst/>
          </a:prstGeom>
          <a:noFill/>
        </p:spPr>
        <p:txBody>
          <a:bodyPr wrap="square">
            <a:spAutoFit/>
          </a:bodyPr>
          <a:lstStyle/>
          <a:p>
            <a:pPr algn="l"/>
            <a:r>
              <a:rPr sz="1000" b="0">
                <a:solidFill>
                  <a:srgbClr val="FFFFFF"/>
                </a:solidFill>
              </a:rPr>
              <a:t>🔑  Determinants must be superkeys (BCNF+)</a:t>
            </a:r>
          </a:p>
          <a:p>
            <a:pPr algn="l"/>
            <a:r>
              <a:rPr sz="1000" b="0">
                <a:solidFill>
                  <a:srgbClr val="FFFFFF"/>
                </a:solidFill>
              </a:rPr>
              <a:t>🔑  Decomposition must ALWAYS be lossless</a:t>
            </a:r>
          </a:p>
          <a:p>
            <a:pPr algn="l"/>
            <a:r>
              <a:rPr sz="1000" b="0">
                <a:solidFill>
                  <a:srgbClr val="FFFFFF"/>
                </a:solidFill>
              </a:rPr>
              <a:t>🔑  Strive to preserve all FDs</a:t>
            </a:r>
          </a:p>
          <a:p>
            <a:pPr algn="l"/>
            <a:r>
              <a:rPr sz="1000" b="0">
                <a:solidFill>
                  <a:srgbClr val="FFFFFF"/>
                </a:solidFill>
              </a:rPr>
              <a:t>🔑  Normalization = eliminating redundancy</a:t>
            </a:r>
          </a:p>
          <a:p>
            <a:pPr algn="l"/>
            <a:r>
              <a:rPr sz="1000" b="0">
                <a:solidFill>
                  <a:srgbClr val="FFFFFF"/>
                </a:solidFill>
              </a:rPr>
              <a:t>🔑  Target 3NF or BCNF for most OLTP systems</a:t>
            </a:r>
          </a:p>
        </p:txBody>
      </p:sp>
      <p:sp>
        <p:nvSpPr>
          <p:cNvPr id="51" name="Rectangle 50"/>
          <p:cNvSpPr/>
          <p:nvPr/>
        </p:nvSpPr>
        <p:spPr>
          <a:xfrm>
            <a:off x="365760" y="3401568"/>
            <a:ext cx="11430000" cy="320040"/>
          </a:xfrm>
          <a:prstGeom prst="rect">
            <a:avLst/>
          </a:prstGeom>
          <a:solidFill>
            <a:srgbClr val="0D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419856"/>
            <a:ext cx="5486400" cy="283464"/>
          </a:xfrm>
          <a:prstGeom prst="rect">
            <a:avLst/>
          </a:prstGeom>
          <a:noFill/>
        </p:spPr>
        <p:txBody>
          <a:bodyPr wrap="square">
            <a:spAutoFit/>
          </a:bodyPr>
          <a:lstStyle/>
          <a:p>
            <a:pPr algn="l"/>
            <a:r>
              <a:rPr sz="1300" b="1" i="0">
                <a:solidFill>
                  <a:srgbClr val="2ECC71"/>
                </a:solidFill>
              </a:rPr>
              <a:t>✅  Best Practices</a:t>
            </a:r>
          </a:p>
        </p:txBody>
      </p:sp>
      <p:sp>
        <p:nvSpPr>
          <p:cNvPr id="53" name="TextBox 52"/>
          <p:cNvSpPr txBox="1"/>
          <p:nvPr/>
        </p:nvSpPr>
        <p:spPr>
          <a:xfrm>
            <a:off x="6172200" y="3419856"/>
            <a:ext cx="5486400" cy="283464"/>
          </a:xfrm>
          <a:prstGeom prst="rect">
            <a:avLst/>
          </a:prstGeom>
          <a:noFill/>
        </p:spPr>
        <p:txBody>
          <a:bodyPr wrap="square">
            <a:spAutoFit/>
          </a:bodyPr>
          <a:lstStyle/>
          <a:p>
            <a:pPr algn="l"/>
            <a:r>
              <a:rPr sz="1300" b="1" i="0">
                <a:solidFill>
                  <a:srgbClr val="E74C3C"/>
                </a:solidFill>
              </a:rPr>
              <a:t>❌  Common Pitfalls</a:t>
            </a:r>
          </a:p>
        </p:txBody>
      </p:sp>
      <p:sp>
        <p:nvSpPr>
          <p:cNvPr id="54" name="Rectangle 53"/>
          <p:cNvSpPr/>
          <p:nvPr/>
        </p:nvSpPr>
        <p:spPr>
          <a:xfrm>
            <a:off x="365760" y="3749039"/>
            <a:ext cx="5577840" cy="256032"/>
          </a:xfrm>
          <a:prstGeom prst="rect">
            <a:avLst/>
          </a:prstGeom>
          <a:solidFill>
            <a:srgbClr val="0D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80" y="3758183"/>
            <a:ext cx="5486400" cy="237744"/>
          </a:xfrm>
          <a:prstGeom prst="rect">
            <a:avLst/>
          </a:prstGeom>
          <a:noFill/>
        </p:spPr>
        <p:txBody>
          <a:bodyPr wrap="square">
            <a:spAutoFit/>
          </a:bodyPr>
          <a:lstStyle/>
          <a:p>
            <a:pPr algn="l"/>
            <a:r>
              <a:rPr sz="900" b="0" i="0">
                <a:solidFill>
                  <a:srgbClr val="FFFFFF"/>
                </a:solidFill>
              </a:rPr>
              <a:t>  •  Start from UNF and work upward systematically</a:t>
            </a:r>
          </a:p>
        </p:txBody>
      </p:sp>
      <p:sp>
        <p:nvSpPr>
          <p:cNvPr id="56" name="Rectangle 55"/>
          <p:cNvSpPr/>
          <p:nvPr/>
        </p:nvSpPr>
        <p:spPr>
          <a:xfrm>
            <a:off x="365760" y="4023359"/>
            <a:ext cx="5577840" cy="256032"/>
          </a:xfrm>
          <a:prstGeom prst="rect">
            <a:avLst/>
          </a:prstGeom>
          <a:solidFill>
            <a:srgbClr val="103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11480" y="4032503"/>
            <a:ext cx="5486400" cy="237744"/>
          </a:xfrm>
          <a:prstGeom prst="rect">
            <a:avLst/>
          </a:prstGeom>
          <a:noFill/>
        </p:spPr>
        <p:txBody>
          <a:bodyPr wrap="square">
            <a:spAutoFit/>
          </a:bodyPr>
          <a:lstStyle/>
          <a:p>
            <a:pPr algn="l"/>
            <a:r>
              <a:rPr sz="900" b="0" i="0">
                <a:solidFill>
                  <a:srgbClr val="FFFFFF"/>
                </a:solidFill>
              </a:rPr>
              <a:t>  •  Document ALL FDs before starting</a:t>
            </a:r>
          </a:p>
        </p:txBody>
      </p:sp>
      <p:sp>
        <p:nvSpPr>
          <p:cNvPr id="58" name="Rectangle 57"/>
          <p:cNvSpPr/>
          <p:nvPr/>
        </p:nvSpPr>
        <p:spPr>
          <a:xfrm>
            <a:off x="365760" y="4297679"/>
            <a:ext cx="5577840" cy="256032"/>
          </a:xfrm>
          <a:prstGeom prst="rect">
            <a:avLst/>
          </a:prstGeom>
          <a:solidFill>
            <a:srgbClr val="0D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80" y="4306823"/>
            <a:ext cx="5486400" cy="237744"/>
          </a:xfrm>
          <a:prstGeom prst="rect">
            <a:avLst/>
          </a:prstGeom>
          <a:noFill/>
        </p:spPr>
        <p:txBody>
          <a:bodyPr wrap="square">
            <a:spAutoFit/>
          </a:bodyPr>
          <a:lstStyle/>
          <a:p>
            <a:pPr algn="l"/>
            <a:r>
              <a:rPr sz="900" b="0" i="0">
                <a:solidFill>
                  <a:srgbClr val="FFFFFF"/>
                </a:solidFill>
              </a:rPr>
              <a:t>  •  Verify lossless join at every decomposition step</a:t>
            </a:r>
          </a:p>
        </p:txBody>
      </p:sp>
      <p:sp>
        <p:nvSpPr>
          <p:cNvPr id="60" name="Rectangle 59"/>
          <p:cNvSpPr/>
          <p:nvPr/>
        </p:nvSpPr>
        <p:spPr>
          <a:xfrm>
            <a:off x="365760" y="4572000"/>
            <a:ext cx="5577840" cy="256032"/>
          </a:xfrm>
          <a:prstGeom prst="rect">
            <a:avLst/>
          </a:prstGeom>
          <a:solidFill>
            <a:srgbClr val="1038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1480" y="4581144"/>
            <a:ext cx="5486400" cy="237744"/>
          </a:xfrm>
          <a:prstGeom prst="rect">
            <a:avLst/>
          </a:prstGeom>
          <a:noFill/>
        </p:spPr>
        <p:txBody>
          <a:bodyPr wrap="square">
            <a:spAutoFit/>
          </a:bodyPr>
          <a:lstStyle/>
          <a:p>
            <a:pPr algn="l"/>
            <a:r>
              <a:rPr sz="900" b="0" i="0">
                <a:solidFill>
                  <a:srgbClr val="FFFFFF"/>
                </a:solidFill>
              </a:rPr>
              <a:t>  •  Aim for 3NF as baseline in production systems (OLTP)</a:t>
            </a:r>
          </a:p>
        </p:txBody>
      </p:sp>
      <p:sp>
        <p:nvSpPr>
          <p:cNvPr id="62" name="Rectangle 61"/>
          <p:cNvSpPr/>
          <p:nvPr/>
        </p:nvSpPr>
        <p:spPr>
          <a:xfrm>
            <a:off x="365760" y="4846320"/>
            <a:ext cx="5577840" cy="256032"/>
          </a:xfrm>
          <a:prstGeom prst="rect">
            <a:avLst/>
          </a:prstGeom>
          <a:solidFill>
            <a:srgbClr val="0D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11480" y="4855464"/>
            <a:ext cx="5486400" cy="237744"/>
          </a:xfrm>
          <a:prstGeom prst="rect">
            <a:avLst/>
          </a:prstGeom>
          <a:noFill/>
        </p:spPr>
        <p:txBody>
          <a:bodyPr wrap="square">
            <a:spAutoFit/>
          </a:bodyPr>
          <a:lstStyle/>
          <a:p>
            <a:pPr algn="l"/>
            <a:r>
              <a:rPr sz="900" b="0" i="0">
                <a:solidFill>
                  <a:srgbClr val="FFFFFF"/>
                </a:solidFill>
              </a:rPr>
              <a:t>  •  Consider INTENTIONAL denormalization for read-heavy systems</a:t>
            </a:r>
          </a:p>
        </p:txBody>
      </p:sp>
      <p:sp>
        <p:nvSpPr>
          <p:cNvPr id="64" name="Rectangle 63"/>
          <p:cNvSpPr/>
          <p:nvPr/>
        </p:nvSpPr>
        <p:spPr>
          <a:xfrm>
            <a:off x="6172200" y="3749039"/>
            <a:ext cx="2148840" cy="256032"/>
          </a:xfrm>
          <a:prstGeom prst="rect">
            <a:avLst/>
          </a:prstGeom>
          <a:solidFill>
            <a:srgbClr val="3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0" y="3758183"/>
            <a:ext cx="2057400" cy="237744"/>
          </a:xfrm>
          <a:prstGeom prst="rect">
            <a:avLst/>
          </a:prstGeom>
          <a:noFill/>
        </p:spPr>
        <p:txBody>
          <a:bodyPr wrap="square">
            <a:spAutoFit/>
          </a:bodyPr>
          <a:lstStyle/>
          <a:p>
            <a:pPr algn="l"/>
            <a:r>
              <a:rPr sz="900" b="1" i="0">
                <a:solidFill>
                  <a:srgbClr val="FFD166"/>
                </a:solidFill>
              </a:rPr>
              <a:t>  Over-normalizing</a:t>
            </a:r>
          </a:p>
        </p:txBody>
      </p:sp>
      <p:sp>
        <p:nvSpPr>
          <p:cNvPr id="66" name="Rectangle 65"/>
          <p:cNvSpPr/>
          <p:nvPr/>
        </p:nvSpPr>
        <p:spPr>
          <a:xfrm>
            <a:off x="8366760" y="3749039"/>
            <a:ext cx="3337560" cy="256032"/>
          </a:xfrm>
          <a:prstGeom prst="rect">
            <a:avLst/>
          </a:prstGeom>
          <a:solidFill>
            <a:srgbClr val="3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412480" y="3758183"/>
            <a:ext cx="3246120" cy="237744"/>
          </a:xfrm>
          <a:prstGeom prst="rect">
            <a:avLst/>
          </a:prstGeom>
          <a:noFill/>
        </p:spPr>
        <p:txBody>
          <a:bodyPr wrap="square">
            <a:spAutoFit/>
          </a:bodyPr>
          <a:lstStyle/>
          <a:p>
            <a:pPr algn="l"/>
            <a:r>
              <a:rPr sz="900" b="0" i="0">
                <a:solidFill>
                  <a:srgbClr val="FFFFFF"/>
                </a:solidFill>
              </a:rPr>
              <a:t>  Too many joins slow down queries</a:t>
            </a:r>
          </a:p>
        </p:txBody>
      </p:sp>
      <p:sp>
        <p:nvSpPr>
          <p:cNvPr id="68" name="Rectangle 67"/>
          <p:cNvSpPr/>
          <p:nvPr/>
        </p:nvSpPr>
        <p:spPr>
          <a:xfrm>
            <a:off x="6172200" y="4023359"/>
            <a:ext cx="2148840" cy="256032"/>
          </a:xfrm>
          <a:prstGeom prst="rect">
            <a:avLst/>
          </a:prstGeom>
          <a:solidFill>
            <a:srgbClr val="38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0" y="4032503"/>
            <a:ext cx="2057400" cy="237744"/>
          </a:xfrm>
          <a:prstGeom prst="rect">
            <a:avLst/>
          </a:prstGeom>
          <a:noFill/>
        </p:spPr>
        <p:txBody>
          <a:bodyPr wrap="square">
            <a:spAutoFit/>
          </a:bodyPr>
          <a:lstStyle/>
          <a:p>
            <a:pPr algn="l"/>
            <a:r>
              <a:rPr sz="900" b="1" i="0">
                <a:solidFill>
                  <a:srgbClr val="FFD166"/>
                </a:solidFill>
              </a:rPr>
              <a:t>  Under-normalizing</a:t>
            </a:r>
          </a:p>
        </p:txBody>
      </p:sp>
      <p:sp>
        <p:nvSpPr>
          <p:cNvPr id="70" name="Rectangle 69"/>
          <p:cNvSpPr/>
          <p:nvPr/>
        </p:nvSpPr>
        <p:spPr>
          <a:xfrm>
            <a:off x="8366760" y="4023359"/>
            <a:ext cx="3337560" cy="256032"/>
          </a:xfrm>
          <a:prstGeom prst="rect">
            <a:avLst/>
          </a:prstGeom>
          <a:solidFill>
            <a:srgbClr val="38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412480" y="4032503"/>
            <a:ext cx="3246120" cy="237744"/>
          </a:xfrm>
          <a:prstGeom prst="rect">
            <a:avLst/>
          </a:prstGeom>
          <a:noFill/>
        </p:spPr>
        <p:txBody>
          <a:bodyPr wrap="square">
            <a:spAutoFit/>
          </a:bodyPr>
          <a:lstStyle/>
          <a:p>
            <a:pPr algn="l"/>
            <a:r>
              <a:rPr sz="900" b="0" i="0">
                <a:solidFill>
                  <a:srgbClr val="FFFFFF"/>
                </a:solidFill>
              </a:rPr>
              <a:t>  Leads to update/insert/delete anomalies</a:t>
            </a:r>
          </a:p>
        </p:txBody>
      </p:sp>
      <p:sp>
        <p:nvSpPr>
          <p:cNvPr id="72" name="Rectangle 71"/>
          <p:cNvSpPr/>
          <p:nvPr/>
        </p:nvSpPr>
        <p:spPr>
          <a:xfrm>
            <a:off x="6172200" y="4297679"/>
            <a:ext cx="2148840" cy="256032"/>
          </a:xfrm>
          <a:prstGeom prst="rect">
            <a:avLst/>
          </a:prstGeom>
          <a:solidFill>
            <a:srgbClr val="3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0" y="4306823"/>
            <a:ext cx="2057400" cy="237744"/>
          </a:xfrm>
          <a:prstGeom prst="rect">
            <a:avLst/>
          </a:prstGeom>
          <a:noFill/>
        </p:spPr>
        <p:txBody>
          <a:bodyPr wrap="square">
            <a:spAutoFit/>
          </a:bodyPr>
          <a:lstStyle/>
          <a:p>
            <a:pPr algn="l"/>
            <a:r>
              <a:rPr sz="900" b="1" i="0">
                <a:solidFill>
                  <a:srgbClr val="FFD166"/>
                </a:solidFill>
              </a:rPr>
              <a:t>  Ignoring composite keys</a:t>
            </a:r>
          </a:p>
        </p:txBody>
      </p:sp>
      <p:sp>
        <p:nvSpPr>
          <p:cNvPr id="74" name="Rectangle 73"/>
          <p:cNvSpPr/>
          <p:nvPr/>
        </p:nvSpPr>
        <p:spPr>
          <a:xfrm>
            <a:off x="8366760" y="4297679"/>
            <a:ext cx="3337560" cy="256032"/>
          </a:xfrm>
          <a:prstGeom prst="rect">
            <a:avLst/>
          </a:prstGeom>
          <a:solidFill>
            <a:srgbClr val="3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12480" y="4306823"/>
            <a:ext cx="3246120" cy="237744"/>
          </a:xfrm>
          <a:prstGeom prst="rect">
            <a:avLst/>
          </a:prstGeom>
          <a:noFill/>
        </p:spPr>
        <p:txBody>
          <a:bodyPr wrap="square">
            <a:spAutoFit/>
          </a:bodyPr>
          <a:lstStyle/>
          <a:p>
            <a:pPr algn="l"/>
            <a:r>
              <a:rPr sz="900" b="0" i="0">
                <a:solidFill>
                  <a:srgbClr val="FFFFFF"/>
                </a:solidFill>
              </a:rPr>
              <a:t>  Missing partial deps — 2NF error</a:t>
            </a:r>
          </a:p>
        </p:txBody>
      </p:sp>
      <p:sp>
        <p:nvSpPr>
          <p:cNvPr id="76" name="Rectangle 75"/>
          <p:cNvSpPr/>
          <p:nvPr/>
        </p:nvSpPr>
        <p:spPr>
          <a:xfrm>
            <a:off x="6172200" y="4572000"/>
            <a:ext cx="2148840" cy="256032"/>
          </a:xfrm>
          <a:prstGeom prst="rect">
            <a:avLst/>
          </a:prstGeom>
          <a:solidFill>
            <a:srgbClr val="38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217920" y="4581144"/>
            <a:ext cx="2057400" cy="237744"/>
          </a:xfrm>
          <a:prstGeom prst="rect">
            <a:avLst/>
          </a:prstGeom>
          <a:noFill/>
        </p:spPr>
        <p:txBody>
          <a:bodyPr wrap="square">
            <a:spAutoFit/>
          </a:bodyPr>
          <a:lstStyle/>
          <a:p>
            <a:pPr algn="l"/>
            <a:r>
              <a:rPr sz="900" b="1" i="0">
                <a:solidFill>
                  <a:srgbClr val="FFD166"/>
                </a:solidFill>
              </a:rPr>
              <a:t>  Stopping at 3NF prematurely</a:t>
            </a:r>
          </a:p>
        </p:txBody>
      </p:sp>
      <p:sp>
        <p:nvSpPr>
          <p:cNvPr id="78" name="Rectangle 77"/>
          <p:cNvSpPr/>
          <p:nvPr/>
        </p:nvSpPr>
        <p:spPr>
          <a:xfrm>
            <a:off x="8366760" y="4572000"/>
            <a:ext cx="3337560" cy="256032"/>
          </a:xfrm>
          <a:prstGeom prst="rect">
            <a:avLst/>
          </a:prstGeom>
          <a:solidFill>
            <a:srgbClr val="38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412480" y="4581144"/>
            <a:ext cx="3246120" cy="237744"/>
          </a:xfrm>
          <a:prstGeom prst="rect">
            <a:avLst/>
          </a:prstGeom>
          <a:noFill/>
        </p:spPr>
        <p:txBody>
          <a:bodyPr wrap="square">
            <a:spAutoFit/>
          </a:bodyPr>
          <a:lstStyle/>
          <a:p>
            <a:pPr algn="l"/>
            <a:r>
              <a:rPr sz="900" b="0" i="0">
                <a:solidFill>
                  <a:srgbClr val="FFFFFF"/>
                </a:solidFill>
              </a:rPr>
              <a:t>  Overlapping candidate keys still cause issues</a:t>
            </a:r>
          </a:p>
        </p:txBody>
      </p:sp>
      <p:sp>
        <p:nvSpPr>
          <p:cNvPr id="80" name="Rectangle 79"/>
          <p:cNvSpPr/>
          <p:nvPr/>
        </p:nvSpPr>
        <p:spPr>
          <a:xfrm>
            <a:off x="6172200" y="4846320"/>
            <a:ext cx="2148840" cy="256032"/>
          </a:xfrm>
          <a:prstGeom prst="rect">
            <a:avLst/>
          </a:prstGeom>
          <a:solidFill>
            <a:srgbClr val="3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17920" y="4855464"/>
            <a:ext cx="2057400" cy="237744"/>
          </a:xfrm>
          <a:prstGeom prst="rect">
            <a:avLst/>
          </a:prstGeom>
          <a:noFill/>
        </p:spPr>
        <p:txBody>
          <a:bodyPr wrap="square">
            <a:spAutoFit/>
          </a:bodyPr>
          <a:lstStyle/>
          <a:p>
            <a:pPr algn="l"/>
            <a:r>
              <a:rPr sz="900" b="1" i="0">
                <a:solidFill>
                  <a:srgbClr val="FFD166"/>
                </a:solidFill>
              </a:rPr>
              <a:t>  Breaking lossless join</a:t>
            </a:r>
          </a:p>
        </p:txBody>
      </p:sp>
      <p:sp>
        <p:nvSpPr>
          <p:cNvPr id="82" name="Rectangle 81"/>
          <p:cNvSpPr/>
          <p:nvPr/>
        </p:nvSpPr>
        <p:spPr>
          <a:xfrm>
            <a:off x="8366760" y="4846320"/>
            <a:ext cx="3337560" cy="256032"/>
          </a:xfrm>
          <a:prstGeom prst="rect">
            <a:avLst/>
          </a:prstGeom>
          <a:solidFill>
            <a:srgbClr val="3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412480" y="4855464"/>
            <a:ext cx="3246120" cy="237744"/>
          </a:xfrm>
          <a:prstGeom prst="rect">
            <a:avLst/>
          </a:prstGeom>
          <a:noFill/>
        </p:spPr>
        <p:txBody>
          <a:bodyPr wrap="square">
            <a:spAutoFit/>
          </a:bodyPr>
          <a:lstStyle/>
          <a:p>
            <a:pPr algn="l"/>
            <a:r>
              <a:rPr sz="900" b="0" i="0">
                <a:solidFill>
                  <a:srgbClr val="FFFFFF"/>
                </a:solidFill>
              </a:rPr>
              <a:t>  Decomposed tables cannot be rejoined correctly</a:t>
            </a:r>
          </a:p>
        </p:txBody>
      </p:sp>
      <p:sp>
        <p:nvSpPr>
          <p:cNvPr id="84" name="Rectangle 83"/>
          <p:cNvSpPr/>
          <p:nvPr/>
        </p:nvSpPr>
        <p:spPr>
          <a:xfrm>
            <a:off x="365760" y="5166360"/>
            <a:ext cx="11430000" cy="475488"/>
          </a:xfrm>
          <a:prstGeom prst="rect">
            <a:avLst/>
          </a:prstGeom>
          <a:solidFill>
            <a:srgbClr val="14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02920" y="5184648"/>
            <a:ext cx="11155680" cy="457200"/>
          </a:xfrm>
          <a:prstGeom prst="rect">
            <a:avLst/>
          </a:prstGeom>
          <a:noFill/>
        </p:spPr>
        <p:txBody>
          <a:bodyPr wrap="square">
            <a:spAutoFit/>
          </a:bodyPr>
          <a:lstStyle/>
          <a:p>
            <a:pPr algn="l"/>
            <a:r>
              <a:rPr sz="1100" b="1" i="0">
                <a:solidFill>
                  <a:srgbClr val="268BD2"/>
                </a:solidFill>
              </a:rPr>
              <a:t>  💡  Normalization is a TOOL, not a goal. Design with purpose!
  "Normalization is the foundation of good relational database design — every scalable, maintainable system relies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