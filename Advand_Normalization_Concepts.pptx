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orient students to today's topics. Emphasize that normalization prevents data anomalies and that each normal form builds on the previous one. Encourage students to think of each NF as a progressively stricter rule that removes a specific type of redundancy.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'why' before the 'how'. Students understand normalization better when they first see what goes wrong without it. The UNF example shows a multi-valued column which is the most common first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'Items' column in the before table stores multiple values in one cell — this is the most common 1NF violation. After applying 1NF, each item gets its own row. This may seem to create duplication, but that's addressed by higher normal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partial dependencies only apply to composite primary keys. ProductName depends only on ProductID — not the full {OrderID, ProductID} composite key. The fix is to move it to a separate Products table. 2NF eliminates this data duplication.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'nothing but the key' mnemonic covers all three normal forms: 1NF=the key, 2NF=the whole key, 3NF=nothing but the key. Walk through the deletion anomaly — if the last student in a department is deleted, the department name is lost. After decomposition, DeptName lives in its own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a determinant can be ANY attribute — not just the primary key. A non-key attribute determining another non-key attribute is the cause of transitive dependencies (3NF violation). Walk students through the 5 steps using a concrete example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this as a practical workflow. Normalization is iterative — check each step before moving to the next. Lossless join is non-negotiable: if decomposition creates extra rows when tables are rejoined, the decomposition is wrong. Most real systems target 3NF as their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table as a quick reference. Students can work through any table by checking from 1NF upward. If a table fails 1NF, fix that first — you cannot skip levels. Emphasize that each NF is a superset of the previous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by asking students to recall: what does each NF eliminate? Reiterate that normalization is cumulative. Over-normalization is a real-world problem — too many joins slow down read-heavy workloads. 3NF is the standard target for most OLTP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354312" cy="73152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554480"/>
            <a:ext cx="9052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Database Normalization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06040"/>
            <a:ext cx="9052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68BD2"/>
                </a:solidFill>
              </a:rPr>
              <a:t>Understanding Normal Forms: 1NF, 2NF, and 3NF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246120"/>
            <a:ext cx="5788152" cy="45720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38328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CEFF4"/>
                </a:solidFill>
              </a:rPr>
              <a:t>System Design and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886200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166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We'll Cover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  📌  A. What is Normalization?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         •  Definition and Purpose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         •  Why We Normalize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FFFFFF"/>
                </a:solidFill>
              </a:rPr>
              <a:t>  📌  B. Normal Forms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         •  First Normal Form (1NF)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         •  Second Normal Form (2NF)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         •  Third Normal Form (3NF)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FFFFFF"/>
                </a:solidFill>
              </a:rPr>
              <a:t>  📌  C. Functional Dependencies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         •  Determinants and Dependent Attributes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         •  Identifying Functional Dependencies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FFFFFF"/>
                </a:solidFill>
              </a:rPr>
              <a:t>  📌  D. Normalization Process &amp;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A. What is Normalization?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Normalization?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430000" cy="50292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Normalization is the process of organizing a relational database to reduce data redundancy and improve data integrity.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5394960" cy="347472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✅  Why Normalize?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Eliminate duplicate data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•  Avoid update, insert, and delete anomalies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•  Ensure data consistency across the database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•  Simplify queries and maintenance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•  Enforce relationships through 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5394960" cy="347472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4708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❌  Data Anomalies (Without Normalization)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212848"/>
            <a:ext cx="5394960" cy="502920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3113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  Update Anomaly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5973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Changing one value requires updating many rows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761488"/>
            <a:ext cx="5394960" cy="502920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77977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  Insert Anomaly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0837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Cannot insert data without unrelated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310128"/>
            <a:ext cx="5394960" cy="502920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32841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  Delete Anomaly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5701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Deleting a row unintentionally removes other facts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224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8BD2"/>
                </a:solidFill>
              </a:rPr>
              <a:t>Example — Unnormalized (UNF) Table: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26280"/>
            <a:ext cx="1143000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5445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FF4"/>
                </a:solidFill>
              </a:rPr>
              <a:t>  StudentID  |  StudentName  |  Courses
  ─────────────────────────────────────────────────────────────
    S001      |  Alice        |  Math, Science, English
    S002      |  Bob          |  Science, History
  ⚠  Courses column contains multiple values — violates atomicity!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B. Normal 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First Normal Form (1NF) — Atomic Values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430000" cy="658368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table is in 1NF if: (1) All attribute values are atomic (indivisible), (2) There are no repeating groups or arrays, and (3) Each row is uniquely identifiable.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3852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❌  Before 1NF (Violates — repeating groups):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31136"/>
            <a:ext cx="5577840" cy="914400"/>
          </a:xfrm>
          <a:prstGeom prst="rect">
            <a:avLst/>
          </a:prstGeom>
          <a:solidFill>
            <a:srgbClr val="3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49424"/>
            <a:ext cx="53949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4"/>
                </a:solidFill>
              </a:rPr>
              <a:t>  OrderID  |  CustomerName  |  Items
  ──────────────────────────────────────────
    1001    |  Alice         |  Laptop, Mouse
    1002    |  Bob           |  Keyboard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93852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✅  After 1NF (Each cell is atomic):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231136"/>
            <a:ext cx="5577840" cy="914400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49424"/>
            <a:ext cx="53949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4"/>
                </a:solidFill>
              </a:rPr>
              <a:t>  OrderID  |  CustomerName  |  Item
  ─────────────────────────────────────────
    1001    |  Alice         |  Laptop
    1001    |  Alice         |  Mouse
    1002    |  Bob           |  Keyboard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46120"/>
            <a:ext cx="11430000" cy="347472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64408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1NF Rules at a Glance: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639312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✅  Each column holds only one value per row (atomic)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✅  No multi-valued attributes (e.g., comma-separated lists)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✅  No repeating column groups (e.g., Item1, Item2, Item3…)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✅  Every row must be uniquely identifiable (Primary Key)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230368"/>
            <a:ext cx="11430000" cy="384048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24865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8BD2"/>
                </a:solidFill>
              </a:rPr>
              <a:t>  💡  Key Insight: 1NF ensures every cell contains a single, indivisible value — the foundation for all higher normal forms.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B. Normal 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Second Normal Form (2NF) — Eliminating Partial Dependencies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430000" cy="658368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table is in 2NF if: (1) It is already in 1NF, AND (2) Every non-key attribute is FULLY functionally dependent on the ENTIRE primary key. No partial dependencies allowed.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38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⚠  Partial Dependency: A non-key attribute depends on only PART of a composite key.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042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❌  Violating Table (Composite PK: OrderID + ProductID):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96896"/>
            <a:ext cx="11430000" cy="713232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15184"/>
            <a:ext cx="111556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4"/>
                </a:solidFill>
              </a:rPr>
              <a:t>  OrderID  |  ProductID  |  ProductName  |  Quantity  |  CustomerName
  ─────────────────────────────────────────────────────────────────────────
    1001    |    P01      |    Laptop     |     2      |  Alice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64992"/>
            <a:ext cx="114300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{OrderID, ProductID}  →  Quantity         ✅  Full dependency on composite PK</a:t>
            </a:r>
          </a:p>
          <a:p>
            <a:pPr algn="l"/>
            <a:r>
              <a:rPr sz="1200" b="1">
                <a:solidFill>
                  <a:srgbClr val="FFD166"/>
                </a:solidFill>
              </a:rPr>
              <a:t>  ProductID             →  ProductName      ⚠  Partial — only needs ProductID!</a:t>
            </a:r>
          </a:p>
          <a:p>
            <a:pPr algn="l"/>
            <a:r>
              <a:rPr sz="1200" b="1">
                <a:solidFill>
                  <a:srgbClr val="FFD166"/>
                </a:solidFill>
              </a:rPr>
              <a:t>  OrderID               →  CustomerName     ⚠  Partial — only needs OrderID!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3159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✅  Solution — Decompose into 3 tables: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26864"/>
            <a:ext cx="3566160" cy="658368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645151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01183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OrderID  |  CustomerName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4626864"/>
            <a:ext cx="3566160" cy="658368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59" y="4645151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4901183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ProductID  |  ProductName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4626864"/>
            <a:ext cx="3840480" cy="658368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9" y="4645151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OrderDetails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4901183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OrderID  |  ProductID  |  Quantity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94960"/>
            <a:ext cx="11430000" cy="347472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413248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8BD2"/>
                </a:solidFill>
              </a:rPr>
              <a:t>  💡  Key Insight: 2NF only applies when the primary key is composite. If the PK is a single column, a table in 1NF is automatically in 2NF.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B. Normal 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Third Normal Form (3NF) — Eliminating Transitive Dependencies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430000" cy="658368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table is in 3NF if: (1) It is already in 2NF, AND (2) Every non-key attribute is NON-TRANSITIVELY dependent on the primary key.
Mnemonic: '...the KEY, the WHOLE KEY, and NOTHING BUT THE KEY.'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38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⚠  Transitive Dependency: If  A → B  and  B → C,  then  A → C  is TRANSITIVE (indirect).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04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❌  Violating Table (PK: StudentID):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96896"/>
            <a:ext cx="11430000" cy="658368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1518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4"/>
                </a:solidFill>
              </a:rPr>
              <a:t>  StudentID  |  StudentName  |  DeptID  |  DeptName
  ─────────────────────────────────────────────────────────
    S001      |  Alice        |   D01    |  Computer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28416"/>
            <a:ext cx="77724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StudentID  →  DeptID          ✅  Direct dependency on PK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DeptID     →  DeptName        ✅  Direct (but DeptID is not the PK!)</a:t>
            </a:r>
          </a:p>
          <a:p>
            <a:pPr algn="l"/>
            <a:r>
              <a:rPr sz="1200" b="1">
                <a:solidFill>
                  <a:srgbClr val="FFD166"/>
                </a:solidFill>
              </a:rPr>
              <a:t>  StudentID  →  DeptName        ❌  TRANSITIVE — goes through DeptID!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328416"/>
            <a:ext cx="3474720" cy="877824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3467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Caused Anomalies: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62102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⚠  Update Anomaly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  ⚠  Deletion Anomaly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  ⚠  Insertion Anomaly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159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✅  Solution — Decompose into 2 tables: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26864"/>
            <a:ext cx="5303520" cy="585216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6451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Student Table: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8289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StudentID  |  StudentName  |  DeptID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626864"/>
            <a:ext cx="5303520" cy="585216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6451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Department Table: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88289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DeptID  |  DeptName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40096"/>
            <a:ext cx="11430000" cy="347472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5838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8BD2"/>
                </a:solidFill>
              </a:rPr>
              <a:t>  💡  Key Insight: DeptName now lives in exactly one place. Changing a department name requires updating only one row.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C. Functional Dependencies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Functional Dependencies — Concepts and Identification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430000" cy="4572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FD  X → Y: For every valid row, if two rows share the same X value, they MUST have the same Y value.  ("X functionally determines Y")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11795760" cy="292608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4650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174650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46504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29968"/>
            <a:ext cx="224028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0574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Determinant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029968"/>
            <a:ext cx="370332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205740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Left side of FD — uniquely determines another attr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029968"/>
            <a:ext cx="534924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05740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StudentID in StudentID → Name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340864"/>
            <a:ext cx="2240280" cy="310896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36829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Dependent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340864"/>
            <a:ext cx="3703320" cy="310896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79" y="2368296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Right side of FD — is determined by another attr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340864"/>
            <a:ext cx="5349240" cy="310896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36829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Name in StudentID → Name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51760"/>
            <a:ext cx="224028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67919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Full FD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651760"/>
            <a:ext cx="370332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79" y="2679192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Dependent relies on the ENTIRE key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651760"/>
            <a:ext cx="534924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67919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Critical for 2NF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962656"/>
            <a:ext cx="2240280" cy="310896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990088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Partial FD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2962656"/>
            <a:ext cx="3703320" cy="310896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79" y="299008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Dependent relies on PART of composite key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962656"/>
            <a:ext cx="5349240" cy="310896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299008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Violates 2NF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273552"/>
            <a:ext cx="224028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30098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Transitive FD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3273552"/>
            <a:ext cx="370332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79" y="3300984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A → B → C  chain through non-key attribute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273552"/>
            <a:ext cx="5349240" cy="310896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30098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Violates 3NF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630168"/>
            <a:ext cx="11430000" cy="292608"/>
          </a:xfrm>
          <a:prstGeom prst="rect">
            <a:avLst/>
          </a:prstGeom>
          <a:solidFill>
            <a:srgbClr val="0D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64845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8BD2"/>
                </a:solidFill>
              </a:rPr>
              <a:t>How to Identify Functional Dependencies (5 Steps):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950208"/>
            <a:ext cx="11430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Step 1: List all attributes in the table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Step 2: Identify the primary key (single or composite)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Step 3: For each non-key attribute — ask 'What uniquely determines this?'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Step 4: Write down all discovered FDs</a:t>
            </a:r>
          </a:p>
          <a:p>
            <a:pPr algn="l"/>
            <a:r>
              <a:rPr sz="1200" b="0">
                <a:solidFill>
                  <a:srgbClr val="FFD166"/>
                </a:solidFill>
              </a:rPr>
              <a:t>  Step 5: Check for partial FDs (→ 2NF issue) and transitive FDs (→ 3NF issue)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D. Normalization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Normalization Process — Step-by-Step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6858000" cy="530352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280160"/>
            <a:ext cx="6748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 RAW / UNNORMALIZED DATA (UNF)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7007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EFF4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92224"/>
            <a:ext cx="6858000" cy="530352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865376"/>
            <a:ext cx="6748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Step 1 → 1NF  :  Make all values atomic; remove repeating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286000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EFF4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77439"/>
            <a:ext cx="6858000" cy="530352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450591"/>
            <a:ext cx="6748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Step 2 → 2NF  :  Remove partial dependencies (split composite-key tables)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71215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EFF4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62656"/>
            <a:ext cx="6858000" cy="530352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035808"/>
            <a:ext cx="6748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Step 3 → 3NF  :  Remove transitive dependencies (split non-key → non-key FDs)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456432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EFF4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47872"/>
            <a:ext cx="6858000" cy="5303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621024"/>
            <a:ext cx="6748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 NORMALIZED DATABASE 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1207008"/>
            <a:ext cx="4297680" cy="329184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122529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✅ Lossless-Join Decomposition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57276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Joining all decomposed tables returns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EXACTLY the original data — no extra or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missing rows (no spurious tuples).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  Test: Common attribute must be a key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  in at least one of the split tables.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2816352"/>
            <a:ext cx="4297680" cy="329184"/>
          </a:xfrm>
          <a:prstGeom prst="rect">
            <a:avLst/>
          </a:prstGeom>
          <a:solidFill>
            <a:srgbClr val="0D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28346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8BD2"/>
                </a:solidFill>
              </a:rPr>
              <a:t>✅ Dependency Preservation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182112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All original FDs must still be enforceable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using the decomposed tables alone.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If a dependency is lost, the database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cannot enforce that business rule without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additional application-level checks.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4526280"/>
            <a:ext cx="4297680" cy="64008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4544568"/>
            <a:ext cx="4114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4"/>
                </a:solidFill>
              </a:rPr>
              <a:t>  Key Principles:
  • Always work bottom-up (1NF → 2NF → 3NF)
  • Lossless join is NON-NEGOTIABLE
  • 3NF is the standard target for most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Normal Forms at a Glance — Comparison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795760" cy="347472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161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216152"/>
            <a:ext cx="2697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Key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216152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Removes / Fixes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216152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How to Achieve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54480"/>
            <a:ext cx="100584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00200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</a:rPr>
              <a:t>  1NF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1554480"/>
            <a:ext cx="278892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1600200"/>
            <a:ext cx="26974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Atomic values, no repeating groups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554480"/>
            <a:ext cx="370332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600200"/>
            <a:ext cx="3611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Multi-valued / repeating columns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554480"/>
            <a:ext cx="388620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600200"/>
            <a:ext cx="3794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Single or composite PK with atomic values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60320"/>
            <a:ext cx="1005840" cy="96012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606039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9C12"/>
                </a:solidFill>
              </a:rPr>
              <a:t>  2NF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2560320"/>
            <a:ext cx="2788920" cy="96012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2606039"/>
            <a:ext cx="26974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Full dependency on entire primary key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2560320"/>
            <a:ext cx="3703320" cy="96012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2606039"/>
            <a:ext cx="3611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Partial dependencies (non-key attr depends on part of composite PK)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2560320"/>
            <a:ext cx="3886200" cy="96012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606039"/>
            <a:ext cx="3794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Composite key: split partial FDs into separate tables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566160"/>
            <a:ext cx="100584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611880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</a:rPr>
              <a:t>  3NF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7320" y="3566160"/>
            <a:ext cx="278892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040" y="3611880"/>
            <a:ext cx="26974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No non-key attribute depends on another non-key attribute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3566160"/>
            <a:ext cx="370332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3611880"/>
            <a:ext cx="3611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Transitive dependencies (non-key → non-key → value)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3566160"/>
            <a:ext cx="388620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611880"/>
            <a:ext cx="3794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Move transitively dependent attrs to their own table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681728"/>
            <a:ext cx="11795760" cy="475488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700016"/>
            <a:ext cx="1161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8BD2"/>
                </a:solidFill>
              </a:rPr>
              <a:t>  💡  Remember: Each higher NF builds on and includes all requirements of the forms below it.
  A table in 3NF is also in 2NF and 1NF.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EFF4"/>
                </a:solidFill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Best Practices &amp; 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430000" cy="329184"/>
          </a:xfrm>
          <a:prstGeom prst="rect">
            <a:avLst/>
          </a:prstGeom>
          <a:solidFill>
            <a:srgbClr val="1B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🔑  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72768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1NF: Eliminate multi-valued columns — each cell holds exactly one value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•  2NF: Eliminate partial dependencies — every non-key attr depends on the full PK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•  3NF: Eliminate transitive dependencies — non-key attrs depend ONLY on the PK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•  Normalization is cumulative — a table in 3NF is also in 2NF and 1NF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•  Always verify lossless-join decomposition at every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54680"/>
            <a:ext cx="11430000" cy="329184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7296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✅  Best Practices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17296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❌  Common Pitfalls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20440"/>
            <a:ext cx="5577840" cy="292608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5387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•  Start from UNF and normalize step by step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31336"/>
            <a:ext cx="5577840" cy="292608"/>
          </a:xfrm>
          <a:prstGeom prst="rect">
            <a:avLst/>
          </a:prstGeom>
          <a:solidFill>
            <a:srgbClr val="10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8496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•  Document all FDs before starting normalization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42232"/>
            <a:ext cx="5577840" cy="292608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1605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•  Verify lossless join at every decomposition step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53128"/>
            <a:ext cx="5577840" cy="292608"/>
          </a:xfrm>
          <a:prstGeom prst="rect">
            <a:avLst/>
          </a:prstGeom>
          <a:solidFill>
            <a:srgbClr val="10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4714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•  Aim for 3NF as the baseline for production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520440"/>
            <a:ext cx="2377440" cy="292608"/>
          </a:xfrm>
          <a:prstGeom prst="rect">
            <a:avLst/>
          </a:prstGeom>
          <a:solidFill>
            <a:srgbClr val="3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5387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  Over-normalizing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3520440"/>
            <a:ext cx="3200400" cy="292608"/>
          </a:xfrm>
          <a:prstGeom prst="rect">
            <a:avLst/>
          </a:prstGeom>
          <a:solidFill>
            <a:srgbClr val="3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353872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Too many joins slow down queries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831336"/>
            <a:ext cx="2377440" cy="292608"/>
          </a:xfrm>
          <a:prstGeom prst="rect">
            <a:avLst/>
          </a:prstGeom>
          <a:solidFill>
            <a:srgbClr val="38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8496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  Under-normalizing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3831336"/>
            <a:ext cx="3200400" cy="292608"/>
          </a:xfrm>
          <a:prstGeom prst="rect">
            <a:avLst/>
          </a:prstGeom>
          <a:solidFill>
            <a:srgbClr val="38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38496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Leads to update/insert/delete anomalies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142232"/>
            <a:ext cx="2377440" cy="292608"/>
          </a:xfrm>
          <a:prstGeom prst="rect">
            <a:avLst/>
          </a:prstGeom>
          <a:solidFill>
            <a:srgbClr val="3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160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  Ignoring composite keys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4142232"/>
            <a:ext cx="3200400" cy="292608"/>
          </a:xfrm>
          <a:prstGeom prst="rect">
            <a:avLst/>
          </a:prstGeom>
          <a:solidFill>
            <a:srgbClr val="3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1080" y="41605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Missing partial deps → 2NF error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4453128"/>
            <a:ext cx="2377440" cy="292608"/>
          </a:xfrm>
          <a:prstGeom prst="rect">
            <a:avLst/>
          </a:prstGeom>
          <a:solidFill>
            <a:srgbClr val="38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4714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  Breaking lossless join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4453128"/>
            <a:ext cx="3200400" cy="292608"/>
          </a:xfrm>
          <a:prstGeom prst="rect">
            <a:avLst/>
          </a:prstGeom>
          <a:solidFill>
            <a:srgbClr val="38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447141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Split tables cannot be rejoined correctly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809744"/>
            <a:ext cx="11430000" cy="512064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82803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8BD2"/>
                </a:solidFill>
              </a:rPr>
              <a:t>  💡  Normalization is a TOOL, not an end goal. Design with purpose!
  "Normalization is the foundation of good relational database design — every scalable, maintainable system relies on it."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