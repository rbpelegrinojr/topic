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6" r:id="rId16"/>
    <p:sldId id="267" r:id="rId17"/>
    <p:sldId id="262" r:id="rId7"/>
    <p:sldId id="263" r:id="rId8"/>
    <p:sldId id="264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976" autoAdjust="0"/>
  </p:normalViewPr>
  <p:slideViewPr>
    <p:cSldViewPr snapToGrid="0" snapToObjects="1">
      <p:cViewPr>
        <p:scale>
          <a:sx n="75" d="100"/>
          <a:sy n="75" d="100"/>
        </p:scale>
        <p:origin x="1914" y="38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08BB1-6F76-4339-A120-A347A49CFA97}" type="datetimeFigureOut">
              <a:rPr lang="en-PH" smtClean="0"/>
              <a:t>28/04/2026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D4710-8119-4926-BFAB-8976B016E16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027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the 'why' before the 'how'. Students understand normalization better when they first see what goes wrong without it. The UNF example shows a multi-valued column which is the most common first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[DEFINITION]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table is in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it meets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conditions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— it is already in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Normal Form (1NF)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 —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non-key attribute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must be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functionally dependent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primary key — not just part of it."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means: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partial dependencies allowed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[PARTIAL DEPENDENCY — THE PROBLEM]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 what exactly is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 dependency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partial dependency occurs when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non-key attribute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depends on only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composite primary key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that is, a primary key made up of more than one column."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[VIOLATING TABLE EXAMPLE]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"Let's look at this violating table. It has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composite primary key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made up of 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together."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columns are: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ProductName, Quantity, and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CustomerName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"Here's the problem:"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"ProductName depends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on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not on the full key."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CustomerName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depends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on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again, not on the full composite key."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"Only Quantity truly depends on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combined."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2NF violation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and it leads to data redundancy and update anomalies.“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fix?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Decompose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single table into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separate tables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each with a clear, focused responsibility:"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 table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stores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CustomerName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CustomerName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fully depends on its own primary key,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 table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stores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ProductName. ProductName now fully depends on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OrderDetails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table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stores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Quantity. Quantity correctly depends on the full composite key."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"By decomposing the table this way, we've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eliminated all partial dependencies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achieved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2NF compliance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created a cleaner, more maintainable database structure."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[INTRO]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 that we understand 2NF, let's take it one step further — welcome to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 Normal Form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3NF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we eliminate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transitive dependencies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[DEFINITION]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table is in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3NF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it meets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conditions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— it is already in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 — every non-key attribute must be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NON-TRANSITIVELY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dependent on the primary key."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"There's a simple mnemonic to remember this:"</a:t>
            </a:r>
            <a:r>
              <a:rPr lang="en-US" sz="1200" b="0" i="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'...the KEY, the WHOLE KEY, and NOTHING BUT THE KEY.’</a:t>
            </a:r>
            <a:r>
              <a:rPr lang="en-US" sz="1200" b="0" i="1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en-US" sz="1200" b="0" i="0" strike="sng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[TRANSITIVE DEPENDENCY — THE CONCEPT]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 what exactly is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transitive dependency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"Let's break it down with simple logic: If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→ B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→ C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→ C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considered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TRANSITIVE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meaning the relationship is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indirect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passing through a middle column to reach its destination."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"Think of it like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 of influence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Column A doesn't directly control Column C — it only reaches C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going through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Column B first.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walk through the core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Functional Dependencies</a:t>
            </a: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[TERMS TABLE]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have five key terms to understand — let's go through each one."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Determinant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This is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side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 functional dependency."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"It is the attribute that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uniquely determines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another attribute."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"Example: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 StudentID → Name — StudentID is the determinant because it alone identifies which Name belongs to a record.“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This is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side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 functional dependency."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"It is the attribute that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determined by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another attribute — it cannot stand alone without its determinant."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"Example: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 StudentID → Name — Name is the dependent, relying on StudentID to be uniquely identified."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FD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Full Functional Dependency means the dependent attribute relies on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 primary key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every part of it, nothing less."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for 2NF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Achieving a Full FD across all non-key attributes is exactly what 2NF demands."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 FD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Partial Functional Dependency happens when a dependent attribute relies on only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of a composite key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a direct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 of 2NF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it tells you the table needs to be decomposed.“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Transitive FD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Transitive Functional Dependency follows an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→ B → C chain through a non-key attribute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"Rather than depending directly on the primary key, a column sneaks its dependency through another non-key column."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a direct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 of 3NF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and again, decomposition is the solution.“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[5-STEP IDENTIFICATION METHOD]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 — how do you actually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functional dependencies in a real table? Here is your go-to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5-step process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 all attributes in the table.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"Know every column you're working with before making any analysis.“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the primary key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whether it's a single column or a composite key."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your reference point. All functional dependencies are measured against it.“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*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non-key attribute, ask: 'What uniquely determines this?'"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"Does it depend on the full key? Only part of the key? Or another non-key column?"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"Your answer classifies the type of functional dependency present."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down all discovered FDs.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"Document every dependency you find — for example: StudentID → Name,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DeptID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DeptName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creates a complete map of how your data relates to itself."</a:t>
            </a:r>
            <a:endParaRPr lang="en-US" dirty="0"/>
          </a:p>
          <a:p>
            <a:endParaRPr lang="en-US" dirty="0"/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for Partial FDs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signal of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2NF issue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Transitive FDs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signal of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3NF issue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final step is your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normalization alarm system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it tells you exactly what needs to be fixed and which normal form to apply.“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"With these five terms understood and this five-step method in hand, you now have everything you need to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read, identify, and resolve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functional dependencies in any database table."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"Functional dependencies are not just theory — they are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 tool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guides every normalization decision you make."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 Normalization Process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laid out as a clear, step-by-step framework.“</a:t>
            </a:r>
          </a:p>
          <a:p>
            <a:endParaRPr lang="en-US" sz="18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[STARTING POINT — RAW / UNNORMALIZED DATA]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 normalization journey begins at the same place —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Raw, Unnormalized Data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also known as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UNF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your table in its rawest form — possibly full of repeating groups, mixed values, and tangled dependencies. It works, but it's messy, redundant, and fragile."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"From here, we move through three structured steps to clean it up."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dirty="0"/>
              <a:t> </a:t>
            </a:r>
          </a:p>
          <a:p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[STEP 1 — 1NF]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— Move to First Normal Form, or 1NF.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rule here is simple: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all values atomic, and remove repeating groups.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"Atomic means each cell holds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value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no lists, no arrays, no comma-separated values stuffed into a single column."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"Repeating groups — such as multiple phone numbers or product entries in one row — must be broken out into separate rows."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"Once your table has atomic values and no repeating groups, you've achieved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1NF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sz="18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[STEP 2 — 2NF]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— Move to Second Normal Form, or 2NF.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 we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 partial dependencies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splitting composite-key tables."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"Remember — a partial dependency is when a non-key column depends on only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 composite primary key."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fix is to decompose — break the table apart so that every non-key attribute fully and completely depends on its own primary key."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"When all partial dependencies are gone — you've reached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2NF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800" dirty="0"/>
          </a:p>
          <a:p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[STEP 3 — 3NF]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 — Move to Third Normal Form, or 3NF.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"Here we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 transitive dependencies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specifically, we eliminate non-key to non-key functional dependency chains."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a non-key column is being determined by another non-key column rather than the primary key directly — split the table."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"Once all transitive dependencies are resolved — you've arrived at a fully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 Database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[NORMALIZED DATABASE]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"And that's your destination — a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 Database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Clean, efficient, consistent, and free of the anomalies that plagued the original unnormalized data."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800" dirty="0"/>
            </a:br>
            <a:br>
              <a:rPr lang="en-US" sz="1800" dirty="0"/>
            </a:br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[LOSSLESS-JOIN DECOMPOSITION]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"But there's an important rule we must follow throughout this entire process — every decomposition must be a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Lossless-Join Decomposition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means that when you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all the decomposed tables back together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result must be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 the original data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no extra rows, no missing rows, no corrupted records. Absolutely none of what are called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spurious tuples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do you test for this? Simple — the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attribute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shared between the split tables must be a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in at least one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those tables."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that condition is met — your decomposition is lossless. Your data is safe."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800" dirty="0"/>
            </a:br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[DEPENDENCY PRESERVATION]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second critical rule is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 Preservation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"All original functional dependencies must still be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enforceable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using the decomposed tables alone — without needing to rejoin everything first."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does this matter? Because if a functional dependency is lost during decomposition, the database can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longer enforce that business rule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its own. You'd need additional application-level checks outside the database — which is risky, unreliable, and defeats the purpose of a well-designed schema."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"In short — when you split tables, make sure </a:t>
            </a:r>
            <a:r>
              <a:rPr lang="en-US" sz="18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dependency gets left behind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800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[KEY PRINCIPLES]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"Finally, let's close with three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Principles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always keep in mind:"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Always work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bottom-up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1NF → 2NF → 3NF. Never skip a step. Each normal form builds on the one before it."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Lossless join is NON-NEGOTIABLE.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Every decomposition must guarantee you can fully reconstruct the original data."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3NF is the standard target for most real-world systems.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strikes the right balance between data integrity and practical performance.“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800" dirty="0"/>
            </a:b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354312" cy="73152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9052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Database Normalization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8BD2"/>
                </a:solidFill>
              </a:rPr>
              <a:t>Understanding Normal Forms: 1NF, 2NF, and 3NF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246120"/>
            <a:ext cx="5788152" cy="4572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33832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EFF4"/>
                </a:solidFill>
              </a:rPr>
              <a:t>System Design and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8620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A. What is Normalization?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Normalization?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50292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Normalization is the process of organizing a relational database to reduce data redundancy and improve data integrity.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394960" cy="347472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✅  Why Normalize?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Eliminate duplicate data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Avoid update, insert, and delete anomalies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Ensure data consistency across the database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Simplify queries and maintenance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Enforce relationships through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394960" cy="347472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❌  Data Anomalies (Without Normalization)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12848"/>
            <a:ext cx="5394960" cy="50292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23113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  Update Anomaly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973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Changing one value requires updating many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61488"/>
            <a:ext cx="5394960" cy="50292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7797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  Insert Anomaly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083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Cannot insert data without unrelated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10128"/>
            <a:ext cx="5394960" cy="50292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3284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  Delete Anomaly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570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Deleting a row unintentionally removes other 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24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8BD2"/>
                </a:solidFill>
              </a:rPr>
              <a:t>Example — Unnormalized (UNF) Table: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26280"/>
            <a:ext cx="11430000" cy="113385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544568"/>
            <a:ext cx="11155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CEFF4"/>
                </a:solidFill>
              </a:rPr>
              <a:t>  StudentID  |  </a:t>
            </a:r>
            <a:r>
              <a:rPr sz="1200" b="0" i="0" dirty="0" err="1">
                <a:solidFill>
                  <a:srgbClr val="ECEFF4"/>
                </a:solidFill>
              </a:rPr>
              <a:t>StudentName</a:t>
            </a:r>
            <a:r>
              <a:rPr sz="1200" b="0" i="0" dirty="0">
                <a:solidFill>
                  <a:srgbClr val="ECEFF4"/>
                </a:solidFill>
              </a:rPr>
              <a:t>  |  Courses
  ─────────────────────────────────────────────────────────────
    S001      |  Alice        |  Math, Science, English
    S002      |  Bob          |  Science, History
 Courses column contains multiple values — violates atomicity!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First Normal Form (1NF) — Atomic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658368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1NF if: (1) All attribute values are atomic (indivisible), (2) There are no repeating groups or arrays, and (3) Each row is uniquely identifiable.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❌  Before 1NF (Violates — repeating groups):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31136"/>
            <a:ext cx="5577840" cy="914400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249424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OrderID  |  CustomerName  |  Items
  ──────────────────────────────────────────
    1001    |  Alice         |  Laptop, Mouse
    1002    |  Bob           |  Keyboard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38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After 1NF (Each cell is atomic):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231136"/>
            <a:ext cx="5577840" cy="914400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249424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CEFF4"/>
                </a:solidFill>
              </a:rPr>
              <a:t>  </a:t>
            </a:r>
            <a:r>
              <a:rPr sz="1100" b="0" i="0" dirty="0" err="1">
                <a:solidFill>
                  <a:srgbClr val="ECEFF4"/>
                </a:solidFill>
              </a:rPr>
              <a:t>OrderID</a:t>
            </a:r>
            <a:r>
              <a:rPr sz="1100" b="0" i="0" dirty="0">
                <a:solidFill>
                  <a:srgbClr val="ECEFF4"/>
                </a:solidFill>
              </a:rPr>
              <a:t>  |  </a:t>
            </a:r>
            <a:r>
              <a:rPr sz="1100" b="0" i="0" dirty="0" err="1">
                <a:solidFill>
                  <a:srgbClr val="ECEFF4"/>
                </a:solidFill>
              </a:rPr>
              <a:t>CustomerName</a:t>
            </a:r>
            <a:r>
              <a:rPr sz="1100" b="0" i="0" dirty="0">
                <a:solidFill>
                  <a:srgbClr val="ECEFF4"/>
                </a:solidFill>
              </a:rPr>
              <a:t>  |  Item
  ─────────────────────────────────────────
    1001    |  Alice         |  Laptop
    1001    |  Alice         |  Mouse
    1002    |  Bob           |  Keyboard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11430000" cy="34747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26440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1NF Rules at a Glance: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39312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✅  Each column holds only one value per row (atomic)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 No multi-valued attributes (e.g., comma-separated lists)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 No repeating column groups (e.g., Item1, Item2, Item3…)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 Every row must be uniquely identifiable (Primary Key)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00075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Second Normal Form (2NF) — Eliminating Partial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73152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2NF if: (1) It is already in 1NF, AND (2) Every non-key attribute is FULLY functionally dependent on the ENTIRE primary key. No partial dependencies allowed.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⚠  Partial Dependency: A non-key attribute depends on only PART of a composite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❌  Violating Table (Composite PK: OrderID + ProductID):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96896"/>
            <a:ext cx="11430000" cy="713232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11155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OrderID  |  ProductID  |  ProductName  |  Quantity  |  CustomerName
  ─────────────────────────────────────────────────────────────────────────
    1001    |    P01      |    Laptop     |     2      |  Alice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15893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2ECC71"/>
                </a:solidFill>
              </a:rPr>
              <a:t>✅  Solution — Decompose into 3 tables: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17645"/>
            <a:ext cx="3566160" cy="65836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0450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D166"/>
                </a:solidFill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01108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FFFFF"/>
                </a:solidFill>
              </a:rPr>
              <a:t>OrderID</a:t>
            </a:r>
            <a:r>
              <a:rPr sz="1100" b="0" i="0" dirty="0">
                <a:solidFill>
                  <a:srgbClr val="FFFFFF"/>
                </a:solidFill>
              </a:rPr>
              <a:t>  |  </a:t>
            </a:r>
            <a:r>
              <a:rPr sz="1100" b="0" i="0" dirty="0" err="1">
                <a:solidFill>
                  <a:srgbClr val="FFFFFF"/>
                </a:solidFill>
              </a:rPr>
              <a:t>CustomerName</a:t>
            </a:r>
            <a:endParaRPr sz="1100" b="0" i="0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60520" y="4026789"/>
            <a:ext cx="3566160" cy="65836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59" y="40450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4301108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ProductID  |  ProductName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026789"/>
            <a:ext cx="3840480" cy="65836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9" y="40450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OrderDetails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430110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OrderID  |  ProductID  |  Quantity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Third Normal Form (3NF) — Eliminating Transitive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768096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3NF if: (1) It is already in 2NF, AND (2) Every non-key attribute is NON-TRANSITIVELY dependent on the primary key.
Mnemonic: '...the KEY, the WHOLE KEY, and NOTHING BUT THE KEY.'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⚠  Transitive Dependency: If  A → B  and  B → C,  then  A → C  is TRANSITIVE (indirect).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74C3C"/>
                </a:solidFill>
              </a:rPr>
              <a:t>❌  Violating Table (PK: StudentID):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96896"/>
            <a:ext cx="11430000" cy="658368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StudentID  |  StudentName  |  DeptID  |  DeptName
  ─────────────────────────────────────────────────────────
    S001      |  Alice        |   D01    |  Computer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28416"/>
            <a:ext cx="7772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  StudentID  →  </a:t>
            </a:r>
            <a:r>
              <a:rPr sz="1200" b="0" dirty="0" err="1">
                <a:solidFill>
                  <a:srgbClr val="FFFFFF"/>
                </a:solidFill>
              </a:rPr>
              <a:t>DeptID</a:t>
            </a:r>
            <a:r>
              <a:rPr sz="1200" b="0" dirty="0">
                <a:solidFill>
                  <a:srgbClr val="FFFFFF"/>
                </a:solidFill>
              </a:rPr>
              <a:t>          ✅  Direct dependency on PK</a:t>
            </a: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</a:t>
            </a:r>
            <a:r>
              <a:rPr sz="1200" b="0" dirty="0" err="1">
                <a:solidFill>
                  <a:srgbClr val="FFFFFF"/>
                </a:solidFill>
              </a:rPr>
              <a:t>DeptID</a:t>
            </a:r>
            <a:r>
              <a:rPr sz="1200" b="0" dirty="0">
                <a:solidFill>
                  <a:srgbClr val="FFFFFF"/>
                </a:solidFill>
              </a:rPr>
              <a:t>     →  </a:t>
            </a:r>
            <a:r>
              <a:rPr sz="1200" b="0" dirty="0" err="1">
                <a:solidFill>
                  <a:srgbClr val="FFFFFF"/>
                </a:solidFill>
              </a:rPr>
              <a:t>DeptName</a:t>
            </a:r>
            <a:r>
              <a:rPr sz="1200" b="0" dirty="0">
                <a:solidFill>
                  <a:srgbClr val="FFFFFF"/>
                </a:solidFill>
              </a:rPr>
              <a:t>        ✅  Direct (but </a:t>
            </a:r>
            <a:r>
              <a:rPr sz="1200" b="0" dirty="0" err="1">
                <a:solidFill>
                  <a:srgbClr val="FFFFFF"/>
                </a:solidFill>
              </a:rPr>
              <a:t>DeptID</a:t>
            </a:r>
            <a:r>
              <a:rPr sz="1200" b="0" dirty="0">
                <a:solidFill>
                  <a:srgbClr val="FFFFFF"/>
                </a:solidFill>
              </a:rPr>
              <a:t> is not the PK!)</a:t>
            </a:r>
          </a:p>
          <a:p>
            <a:pPr algn="l"/>
            <a:r>
              <a:rPr sz="1200" b="1" dirty="0">
                <a:solidFill>
                  <a:srgbClr val="FFD166"/>
                </a:solidFill>
              </a:rPr>
              <a:t>  StudentID  →  </a:t>
            </a:r>
            <a:r>
              <a:rPr sz="1200" b="1" dirty="0" err="1">
                <a:solidFill>
                  <a:srgbClr val="FFD166"/>
                </a:solidFill>
              </a:rPr>
              <a:t>DeptName</a:t>
            </a:r>
            <a:r>
              <a:rPr sz="1200" b="1" dirty="0">
                <a:solidFill>
                  <a:srgbClr val="FFD166"/>
                </a:solidFill>
              </a:rPr>
              <a:t>        ❌  TRANSITIVE — goes through </a:t>
            </a:r>
            <a:r>
              <a:rPr sz="1200" b="1" dirty="0" err="1">
                <a:solidFill>
                  <a:srgbClr val="FFD166"/>
                </a:solidFill>
              </a:rPr>
              <a:t>DeptID</a:t>
            </a:r>
            <a:r>
              <a:rPr sz="1200" b="1" dirty="0">
                <a:solidFill>
                  <a:srgbClr val="FFD166"/>
                </a:solidFill>
              </a:rPr>
              <a:t>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328416"/>
            <a:ext cx="3474720" cy="877824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346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Caused Anomalies: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210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⚠  Update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Deletion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Insertion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15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Solution — Decompose into 2 tables: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Student Table: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StudentID  |  StudentName  |  DeptID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Department Table: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DeptID  |  DeptName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C. Functional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Functional Dependencies — Concepts and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03960"/>
            <a:ext cx="11795760" cy="292608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2131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21310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21310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96568"/>
            <a:ext cx="224028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15240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Determinant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96568"/>
            <a:ext cx="370332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97479" y="15240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Left side of FD — uniquely determines another attr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96568"/>
            <a:ext cx="534924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52400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StudentID in StudentID → 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807464"/>
            <a:ext cx="224028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183489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Dependent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1807464"/>
            <a:ext cx="370332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97479" y="183489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Right side of FD — is determined by another attr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07464"/>
            <a:ext cx="534924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83489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Name in StudentID → 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18360"/>
            <a:ext cx="224028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14579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Full FD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118360"/>
            <a:ext cx="370332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79" y="214579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Dependent relies on the ENTIRE key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118360"/>
            <a:ext cx="534924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214579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Critical for 2NF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29256"/>
            <a:ext cx="224028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24566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Partial FD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429256"/>
            <a:ext cx="370332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97479" y="245668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Dependent relies on PART of composite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429256"/>
            <a:ext cx="534924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24566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Violates 2NF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40152"/>
            <a:ext cx="224028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276758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Transitive FD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740152"/>
            <a:ext cx="370332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97479" y="276758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A → B → C  chain through non-key attribute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740152"/>
            <a:ext cx="534924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276758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Violates 3NF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096768"/>
            <a:ext cx="11430000" cy="292608"/>
          </a:xfrm>
          <a:prstGeom prst="rect">
            <a:avLst/>
          </a:prstGeom>
          <a:solidFill>
            <a:srgbClr val="0D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311505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8BD2"/>
                </a:solidFill>
              </a:rPr>
              <a:t>How to Identify Functional Dependencies (5 Steps):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416808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Step 1: List all attributes in the table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Step 2: Identify the primary key (single or composite)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Step 3: For each non-key attribute — ask 'What uniquely determines this?'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Step 4: Write down all discovered FDs</a:t>
            </a:r>
          </a:p>
          <a:p>
            <a:pPr algn="l"/>
            <a:r>
              <a:rPr sz="1200" b="0">
                <a:solidFill>
                  <a:srgbClr val="FFD166"/>
                </a:solidFill>
              </a:rPr>
              <a:t>  Step 5: Check for partial FDs (→ 2NF issue) and transitive FDs (→ 3NF issue)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D. Normalization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Normalization Process — Step-by-Step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6858000" cy="530352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280160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 RAW / UNNORMALIZED DATA (UNF)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7007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92224"/>
            <a:ext cx="6858000" cy="53035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865376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Step 1 → 1NF  :  Make all values atomic; remove repeating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8600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39"/>
            <a:ext cx="6858000" cy="53035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2450591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Step 2 → 2NF  :  Remove partial dependencies (split composite-key tables)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71215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62656"/>
            <a:ext cx="6858000" cy="53035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3035808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Step 3 → 3NF  :  Remove transitive dependencies (split non-key → non-key FDs)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5643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47872"/>
            <a:ext cx="6858000" cy="5303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3621024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 NORMALIZED DATABASE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207008"/>
            <a:ext cx="4297680" cy="329184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12252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✅ Lossless-Join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57276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Joining all decomposed tables returns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EXACTLY the original data — no extra or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missing rows (no spurious tuples).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Test: Common attribute must be a key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in at least one of the split tables.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816352"/>
            <a:ext cx="4297680" cy="329184"/>
          </a:xfrm>
          <a:prstGeom prst="rect">
            <a:avLst/>
          </a:prstGeom>
          <a:solidFill>
            <a:srgbClr val="0D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8BD2"/>
                </a:solidFill>
              </a:rPr>
              <a:t>✅ Dependency Preservation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182112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All original FDs must still be enforceable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using the decomposed tables alone.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If a dependency is lost, the database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cannot enforce that business rule without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additional application-level checks.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4526280"/>
            <a:ext cx="4297680" cy="64008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4544568"/>
            <a:ext cx="4114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4"/>
                </a:solidFill>
              </a:rPr>
              <a:t>  Key Principles:
  • Always work bottom-up (1NF → 2NF → 3NF)
  • Lossless join is NON-NEGOTIABLE
  • 3NF is the standard target for most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Normal Forms at a Glance — Comparison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795760" cy="34747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16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16152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Key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216152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Removes /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216152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How to Achieve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100584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60020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</a:rPr>
              <a:t>  1NF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1554480"/>
            <a:ext cx="27889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1600200"/>
            <a:ext cx="26974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Atomic values, no repeating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554480"/>
            <a:ext cx="37033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1600200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Multi-valued / repeating columns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554480"/>
            <a:ext cx="388620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1600200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Single or composite PK with atomic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100584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606039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  2NF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2560320"/>
            <a:ext cx="278892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0" y="2606039"/>
            <a:ext cx="26974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Full dependency on entire primary 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560320"/>
            <a:ext cx="370332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2606039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Partial dependencies (non-key attr depends on part of composite PK)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2560320"/>
            <a:ext cx="388620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0" y="2606039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Composite key: split partial FDs into separate tables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66160"/>
            <a:ext cx="100584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61188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  3NF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3566160"/>
            <a:ext cx="27889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63040" y="3611880"/>
            <a:ext cx="26974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No non-key attribute depends on another non-key attribute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566160"/>
            <a:ext cx="37033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0" y="3611880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Transitive dependencies (non-key → non-key → value)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3566160"/>
            <a:ext cx="388620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3611880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Move transitively dependent attrs to their own 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81728"/>
            <a:ext cx="11795760" cy="475488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700016"/>
            <a:ext cx="1161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8BD2"/>
                </a:solidFill>
              </a:rPr>
              <a:t>  💡  Remember: Each higher NF builds on and includes all requirements of the forms below it.
  A table in 3NF is also in 2NF and 1NF.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Best Practices &amp; 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329184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🔑  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1NF: Eliminate multi-valued columns — each cell holds exactly one value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2NF: Eliminate partial dependencies — every non-key attr depends on the full PK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3NF: Eliminate transitive dependencies — non-key attrs depend ONLY on the PK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Normalization is cumulative — a table in 3NF is also in 2NF and 1NF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Always verify lossless-join decomposition at every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11430000" cy="329184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✅ 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1729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❌  Common Pitfalls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5577840" cy="29260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538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Start from UNF and normalize step by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5577840" cy="292608"/>
          </a:xfrm>
          <a:prstGeom prst="rect">
            <a:avLst/>
          </a:prstGeom>
          <a:solidFill>
            <a:srgbClr val="10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8496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Document all FDs before starting normalization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42232"/>
            <a:ext cx="5577840" cy="29260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160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Verify lossless join at every decomposition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53128"/>
            <a:ext cx="5577840" cy="292608"/>
          </a:xfrm>
          <a:prstGeom prst="rect">
            <a:avLst/>
          </a:prstGeom>
          <a:solidFill>
            <a:srgbClr val="10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4714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Aim for 3NF as the baseline for production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520440"/>
            <a:ext cx="237744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5387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Over-normalizing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3520440"/>
            <a:ext cx="320040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35387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Too many joins slow down queries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831336"/>
            <a:ext cx="237744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849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Under-normalizing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3831336"/>
            <a:ext cx="320040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3849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Leads to update/insert/delete anomalies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142232"/>
            <a:ext cx="237744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4160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Ignoring composite keys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4142232"/>
            <a:ext cx="320040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41605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Missing partial deps → 2NF error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453128"/>
            <a:ext cx="237744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44714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Breaking lossless join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4453128"/>
            <a:ext cx="320040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41080" y="44714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Split tables cannot be rejoined correctly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09744"/>
            <a:ext cx="11430000" cy="512064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482803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8BD2"/>
                </a:solidFill>
              </a:rPr>
              <a:t>  💡  Normalization is a TOOL, not an end goal. Design with purpose!
  "Normalization is the foundation of good relational database design — every scalable, maintainable system relies on it."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Fourth Normal Form (4NF) — Eliminating Multi-Valued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768096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4NF if: (1) It is already in BCNF, AND (2) It contains no non-trivial multi-valued dependencies (MVDs) — i.e., no attribute independently determines a SET of values for another attribute.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⚠  Multi-Valued Dependency (MVD): A →→ B means each value of A determines a SET of B values, independently of all other attributes in the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74C3C"/>
                </a:solidFill>
              </a:rPr>
              <a:t>❌  Violation Example (PK: CourseID):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96896"/>
            <a:ext cx="11430000" cy="658368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CourseID  |  Teacher    |  Textbook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CS101     |  Alice      |  DB Systems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CS101     |  Alice      |  SQL Guide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CS101     |  Bob        |  DB Systems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CS101     |  Bob        |  SQL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28416"/>
            <a:ext cx="7772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  CourseID →→ Teacher        ⚠  independent MVD</a:t>
            </a:r>
          </a:p>
          <a:p>
            <a:pPr algn="l"/>
            <a:r>
              <a:rPr sz="1200" b="0" dirty="0">
                <a:solidFill>
                  <a:srgbClr val="FFFFFF"/>
                </a:solidFill>
              </a:rPr>
              <a:t>  CourseID →→ Textbook       ⚠  independent MVD</a:t>
            </a:r>
          </a:p>
          <a:p>
            <a:pPr algn="l"/>
            <a:r>
              <a:rPr sz="1200" b="0" dirty="0">
                <a:solidFill>
                  <a:srgbClr val="FFD166"/>
                </a:solidFill>
              </a:rPr>
              <a:t>  Two independent MVDs in one table → violates 4NF!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328416"/>
            <a:ext cx="3474720" cy="877824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346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Why It Matters: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210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⚠  Update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Insertion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Deletion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15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Solution — Decompose into 2 tables (one MVD per table):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Course_Teacher: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CourseID  |  Teacher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Course_Textbook: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CourseID  |  Textbook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Fifth Normal Form (5NF) — Eliminating Join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768096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5NF (Project-Join Normal Form — PJNF) if: (1) It is already in 4NF, AND (2) Every non-trivial join dependency is implied by the candidate keys — the table cannot be losslessly decomposed further into smaller 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⚠  Join Dependency (JD): Table T satisfies a JD when it can be LOSSLESSLY split into 3 or more projections T1, T2, T3 … such that T = T1 ⋈ T2 ⋈ T3 ⋈ … — and this split is NOT forced by the candidate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74C3C"/>
                </a:solidFill>
              </a:rPr>
              <a:t>❌  Violation Example (Ternary Relationship):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96896"/>
            <a:ext cx="11430000" cy="658368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Supplier  |  Product    |  Project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──────────────────────────────────────────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S1        |  P1         |  J1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S1        |  P1         |  J2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S1        |  P2         |  J1</a:t>
            </a:r>
          </a:p>
          <a:p>
            <a:pPr algn="l"/>
            <a:r>
              <a:rPr sz="1100" b="0" i="0">
                <a:solidFill>
                  <a:srgbClr val="ECEFF4"/>
                </a:solidFill>
              </a:rPr>
              <a:t>  S2        |  P1         |  J1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28416"/>
            <a:ext cx="7772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  Can be split losslessly into three binary tables:</a:t>
            </a:r>
          </a:p>
          <a:p>
            <a:pPr algn="l"/>
            <a:r>
              <a:rPr sz="1200" b="0" dirty="0">
                <a:solidFill>
                  <a:srgbClr val="FFD166"/>
                </a:solidFill>
              </a:rPr>
              <a:t>  SP(Supplier,Product)  ⋈  SJ(Supplier,Project)  ⋈  PJ(Product,Project)</a:t>
            </a:r>
          </a:p>
          <a:p>
            <a:pPr algn="l"/>
            <a:r>
              <a:rPr sz="1200" b="0" dirty="0">
                <a:solidFill>
                  <a:srgbClr val="E74C3C"/>
                </a:solidFill>
              </a:rPr>
              <a:t>  Storing them in one table creates redundancy → violates 5NF!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328416"/>
            <a:ext cx="3474720" cy="877824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346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Why It Matters: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210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⚠  Update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Insertion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Deletion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15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Solution — Decompose into 3 binary tables: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Supplier_Product: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Supplier  |  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Supplier_Project: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Supplier  | 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3172</Words>
  <Application>Microsoft Office PowerPoint</Application>
  <PresentationFormat>Custom</PresentationFormat>
  <Paragraphs>277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Roden Pelegrino</cp:lastModifiedBy>
  <cp:revision>74</cp:revision>
  <dcterms:created xsi:type="dcterms:W3CDTF">2013-01-27T09:14:16Z</dcterms:created>
  <dcterms:modified xsi:type="dcterms:W3CDTF">2026-04-28T08:01:35Z</dcterms:modified>
  <cp:category/>
</cp:coreProperties>
</file>