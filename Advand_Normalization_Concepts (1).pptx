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976" autoAdjust="0"/>
  </p:normalViewPr>
  <p:slideViewPr>
    <p:cSldViewPr snapToGrid="0" snapToObjects="1">
      <p:cViewPr>
        <p:scale>
          <a:sx n="75" d="100"/>
          <a:sy n="75" d="100"/>
        </p:scale>
        <p:origin x="1914" y="384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08BB1-6F76-4339-A120-A347A49CFA97}" type="datetimeFigureOut">
              <a:rPr lang="en-PH" smtClean="0"/>
              <a:t>28/04/2026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AD4710-8119-4926-BFAB-8976B016E166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0027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the 'why' before the 'how'. Students understand normalization better when they first see what goes wrong without it. The UNF example shows a multi-valued column which is the most common first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[DEFINITION]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table is in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if it meets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 conditions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— it is already in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Normal Form (1NF)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 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non-key attribute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must be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 functionally dependent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primary key — not just part of it."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means: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partial dependencies allowed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[PARTIAL DEPENDENCY — THE PROBLEM]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"So what exactly is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partial dependency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partial dependency occurs when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non-key attribute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depends on only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composite primary key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that is, a primary key made up of more than one column."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[VIOLATING TABLE EXAMPLE]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"Let's look at this violating table. It has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composite primary key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made up of 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together."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columns are: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ProductName, Quantity, and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"Here's the problem:"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"ProductName depends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 on 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not on the full key."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depends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 on 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again, not on the full composite key."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"Only Quantity truly depends on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combined."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 violation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it leads to data redundancy and update anomalies.“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fix?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Decompose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single table into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separate tables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each with a clear, focused responsibility:"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Orders table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stores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now fully depends on its own primary key,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 table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stores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ProductName. ProductName now fully depends on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OrderDetails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table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stores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OrderID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 Quantity. Quantity correctly depends on the full composite key."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"By decomposing the table this way, we've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eliminated all partial dependencies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achieved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 compliance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created a cleaner, more maintainable database structure."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[INTRO]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"Now that we understand 2NF, let's take it one step further — welcome to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 Normal Form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where we eliminate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transitive dependencies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[DEFINITION]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table is in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if it meets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 conditions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— it is already in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 — every non-key attribute must be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NON-TRANSITIVELY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dependent on the primary key."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strike="sng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"There's a simple mnemonic to remember this:"</a:t>
            </a:r>
            <a:r>
              <a:rPr lang="en-US" sz="1200" b="0" i="0" strike="sng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strike="sng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strike="sng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'...the KEY, the WHOLE KEY, and NOTHING BUT THE KEY.’</a:t>
            </a:r>
            <a:r>
              <a:rPr lang="en-US" sz="1200" b="0" i="1" strike="sng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en-US" sz="1200" b="0" i="0" strike="sng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[TRANSITIVE DEPENDENCY — THE CONCEPT]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"So what exactly is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transitive dependency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"Let's break it down with simple logic: If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→ B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 → C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→ C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considered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TRANSITIVE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meaning the relationship is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indirect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passing through a middle column to reach its destination."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"Think of it like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 of influence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Column A doesn't directly control Column C — it only reaches C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 going through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Column B first.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walk through the core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Functional Dependencies</a:t>
            </a:r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[TERMS TABLE]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have five key terms to understand — let's go through each one."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Determinant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This is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 side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 functional dependency."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is the attribute that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uniquely determines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another attribute."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"Example: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 StudentID → Name — StudentID is the determinant because it alone identifies which Name belongs to a record.“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Dependent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This is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 side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 functional dependency."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is the attribute that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determined by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another attribute — it cannot stand alone without its determinant."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"Example: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 StudentID → Name — Name is the dependent, relying on StudentID to be uniquely identified."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 FD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Full Functional Dependency means the dependent attribute relies on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 primary key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every part of it, nothing less."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critical for 2NF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Achieving a Full FD across all non-key attributes is exactly what 2NF demands."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Partial FD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Partial Functional Dependency happens when a dependent attribute relies on only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of a composite key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 a direct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 of 2NF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it tells you the table needs to be decomposed.“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Transitive FD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Transitive Functional Dependency follows an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→ B → C chain through a non-key attribute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"Rather than depending directly on the primary key, a column sneaks its dependency through another non-key column."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 a direct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 of 3NF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again, decomposition is the solution.“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[5-STEP IDENTIFICATION METHOD]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"Now — how do you actually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functional dependencies in a real table? Here is your go-to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5-step process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1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 all attributes in the table.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"Know every column you're working with before making any analysis.“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2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Identify the primary key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whether it's a single column or a composite key."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 your reference point. All functional dependencies are measured against it.“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*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each non-key attribute, ask: 'What uniquely determines this?'"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"Does it depend on the full key? Only part of the key? Or another non-key column?"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"Your answer classifies the type of functional dependency present."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4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 down all discovered FDs.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"Document every dependency you find — for example: StudentID → Name,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DeptID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DeptName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creates a complete map of how your data relates to itself."</a:t>
            </a:r>
            <a:endParaRPr lang="en-US" dirty="0"/>
          </a:p>
          <a:p>
            <a:endParaRPr lang="en-US" dirty="0"/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5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 for Partial FDs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signal of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 issue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Transitive FDs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signal of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3NF issue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final step is your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normalization alarm system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it tells you exactly what needs to be fixed and which normal form to apply.“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"With these five terms understood and this five-step method in hand, you now have everything you need to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read, identify, and resolve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functional dependencies in any database table."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"Functional dependencies are not just theory — they are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diagnostic tool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guides every normalization decision you make."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is the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 Normalization Process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laid out as a clear, step-by-step framework.“</a:t>
            </a:r>
          </a:p>
          <a:p>
            <a:endParaRPr lang="en-US" sz="18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[STARTING POINT — RAW / UNNORMALIZED DATA]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"Every normalization journey begins at the same place —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Raw, Unnormalized Data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known as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is your table in its rawest form — possibly full of repeating groups, mixed values, and tangled dependencies. It works, but it's messy, redundant, and fragile."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"From here, we move through three structured steps to clean it up."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dirty="0"/>
              <a:t> </a:t>
            </a:r>
          </a:p>
          <a:p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[STEP 1 — 1NF]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1 — Move to First Normal Form, or 1NF.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rule here is simple: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 all values atomic, and remove repeating groups.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"Atomic means each cell holds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single value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no lists, no arrays, no comma-separated values stuffed into a single column."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"Repeating groups — such as multiple phone numbers or product entries in one row — must be broken out into separate rows."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"Once your table has atomic values and no repeating groups, you've achieved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1NF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en-US" sz="18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[STEP 2 — 2NF]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2 — Move to Second Normal Form, or 2NF.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"Now we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 partial dependencies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 splitting composite-key tables."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"Remember — a partial dependency is when a non-key column depends on only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 composite primary key."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fix is to decompose — break the table apart so that every non-key attribute fully and completely depends on its own primary key."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"When all partial dependencies are gone — you've reached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2NF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800" dirty="0"/>
          </a:p>
          <a:p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[STEP 3 — 3NF]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3 — Move to Third Normal Form, or 3NF.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 we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 transitive dependencies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specifically, we eliminate non-key to non-key functional dependency chains."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"If a non-key column is being determined by another non-key column rather than the primary key directly — split the table."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"Once all transitive dependencies are resolved — you've arrived at a fully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Normalized Database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800" dirty="0"/>
          </a:p>
          <a:p>
            <a:endParaRPr lang="en-US" sz="1800" dirty="0"/>
          </a:p>
          <a:p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[NORMALIZED DATABASE]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"And that's your destination — a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Normalized Database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Clean, efficient, consistent, and free of the anomalies that plagued the original unnormalized data."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800" dirty="0"/>
            </a:br>
            <a:br>
              <a:rPr lang="en-US" sz="1800" dirty="0"/>
            </a:br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[LOSSLESS-JOIN DECOMPOSITION]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"But there's an important rule we must follow throughout this entire process — every decomposition must be a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Lossless-Join Decomposition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"This means that when you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join all the decomposed tables back together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result must be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 the original data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no extra rows, no missing rows, no corrupted records. Absolutely none of what are called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spurious tuples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"How do you test for this? Simple — the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common attribute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shared between the split tables must be a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 in at least one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those tables."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"If that condition is met — your decomposition is lossless. Your data is safe."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800" dirty="0"/>
            </a:br>
            <a:r>
              <a:rPr lang="en-US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[DEPENDENCY PRESERVATION]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second critical rule is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Dependency Preservation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"All original functional dependencies must still be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enforceable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using the decomposed tables alone — without needing to rejoin everything first."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"Why does this matter? Because if a functional dependency is lost during decomposition, the database can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longer enforce that business rule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its own. You'd need additional application-level checks outside the database — which is risky, unreliable, and defeats the purpose of a well-designed schema."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"In short — when you split tables, make sure </a:t>
            </a:r>
            <a:r>
              <a:rPr lang="en-US" sz="18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dependency gets left behind</a:t>
            </a:r>
            <a:r>
              <a:rPr lang="en-US" sz="18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en-US" sz="18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800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[KEY PRINCIPLES]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"Finally, let's close with three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 Principles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 always keep in mind:"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Always work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bottom-up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1NF → 2NF → 3NF. Never skip a step. Each normal form builds on the one before it."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 join is NON-NEGOTIABLE.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Every decomposition must guarantee you can fully reconstruct the original data."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3NF is the standard target for most real-world systems.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It strikes the right balance between data integrity and practical performance.“</a:t>
            </a: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800" dirty="0"/>
            </a:br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417320" y="1417320"/>
            <a:ext cx="9354312" cy="73152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1554480"/>
            <a:ext cx="9052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Database Normalization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68BD2"/>
                </a:solidFill>
              </a:rPr>
              <a:t>Understanding Normal Forms: 1NF, 2NF, and 3NF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3246120"/>
            <a:ext cx="5788152" cy="45720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338328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CEFF4"/>
                </a:solidFill>
              </a:rPr>
              <a:t>System Design and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D166"/>
                </a:solidFill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A. What is Normalization?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Normalization?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430000" cy="50292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Normalization is the process of organizing a relational database to reduce data redundancy and improve data integrity.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394960" cy="347472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84708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✅  Why Normalize?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 Eliminate duplicate data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Avoid update, insert, and delete anomalies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Ensure data consistency across the database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Simplify queries and maintenance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Enforce relationships through 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828800"/>
            <a:ext cx="5394960" cy="347472"/>
          </a:xfrm>
          <a:prstGeom prst="rect">
            <a:avLst/>
          </a:prstGeom>
          <a:solidFill>
            <a:srgbClr val="4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84708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❌  Data Anomalies (Without Normalization)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212848"/>
            <a:ext cx="5394960" cy="502920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  Update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5973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Changing one value requires updating many rows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761488"/>
            <a:ext cx="5394960" cy="502920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77977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  Insert Anomaly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0837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Cannot insert data without unrelated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310128"/>
            <a:ext cx="5394960" cy="502920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32841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  Delete Anomaly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55701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Deleting a row unintentionally removes other 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245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8BD2"/>
                </a:solidFill>
              </a:rPr>
              <a:t>Example — Unnormalized (UNF) Table: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26280"/>
            <a:ext cx="11430000" cy="113385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544568"/>
            <a:ext cx="11155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CEFF4"/>
                </a:solidFill>
              </a:rPr>
              <a:t>  StudentID  |  </a:t>
            </a:r>
            <a:r>
              <a:rPr sz="1200" b="0" i="0" dirty="0" err="1">
                <a:solidFill>
                  <a:srgbClr val="ECEFF4"/>
                </a:solidFill>
              </a:rPr>
              <a:t>StudentName</a:t>
            </a:r>
            <a:r>
              <a:rPr sz="1200" b="0" i="0" dirty="0">
                <a:solidFill>
                  <a:srgbClr val="ECEFF4"/>
                </a:solidFill>
              </a:rPr>
              <a:t>  |  Courses
  ─────────────────────────────────────────────────────────────
    S001      |  Alice        |  Math, Science, English
    S002      |  Bob          |  Science, History
 Courses column contains multiple values — violates atomicity!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B. Normal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First Normal Form (1NF) — Atomic Values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430000" cy="658368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table is in 1NF if: (1) All attribute values are atomic (indivisible), (2) There are no repeating groups or arrays, and (3) Each row is uniquely identifiable.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❌  Before 1NF (Violates — repeating groups):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31136"/>
            <a:ext cx="5577840" cy="914400"/>
          </a:xfrm>
          <a:prstGeom prst="rect">
            <a:avLst/>
          </a:prstGeom>
          <a:solidFill>
            <a:srgbClr val="3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249424"/>
            <a:ext cx="539496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EFF4"/>
                </a:solidFill>
              </a:rPr>
              <a:t>  OrderID  |  CustomerName  |  Items
  ──────────────────────────────────────────
    1001    |  Alice         |  Laptop, Mouse
    1002    |  Bob           |  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93852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✅  After 1NF (Each cell is atomic):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231136"/>
            <a:ext cx="5577840" cy="914400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249424"/>
            <a:ext cx="539496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ECEFF4"/>
                </a:solidFill>
              </a:rPr>
              <a:t>  </a:t>
            </a:r>
            <a:r>
              <a:rPr sz="1100" b="0" i="0" dirty="0" err="1">
                <a:solidFill>
                  <a:srgbClr val="ECEFF4"/>
                </a:solidFill>
              </a:rPr>
              <a:t>OrderID</a:t>
            </a:r>
            <a:r>
              <a:rPr sz="1100" b="0" i="0" dirty="0">
                <a:solidFill>
                  <a:srgbClr val="ECEFF4"/>
                </a:solidFill>
              </a:rPr>
              <a:t>  |  </a:t>
            </a:r>
            <a:r>
              <a:rPr sz="1100" b="0" i="0" dirty="0" err="1">
                <a:solidFill>
                  <a:srgbClr val="ECEFF4"/>
                </a:solidFill>
              </a:rPr>
              <a:t>CustomerName</a:t>
            </a:r>
            <a:r>
              <a:rPr sz="1100" b="0" i="0" dirty="0">
                <a:solidFill>
                  <a:srgbClr val="ECEFF4"/>
                </a:solidFill>
              </a:rPr>
              <a:t>  |  Item
  ─────────────────────────────────────────
    1001    |  Alice         |  Laptop
    1001    |  Alice         |  Mouse
    1002    |  Bob           |  Keyboard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46120"/>
            <a:ext cx="11430000" cy="347472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264408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1NF Rules at a Glance: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39312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 Each column holds only one value per row (atomic)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✅  No multi-valued attributes (e.g., comma-separated lists)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✅  No repeating column groups (e.g., Item1, Item2, Item3…)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✅  Every row must be uniquely identifiable (Primary Key)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00075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B. Normal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Second Normal Form (2NF) — Eliminating Partial Dependencies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430000" cy="73152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table is in 2NF if: (1) It is already in 1NF, AND (2) Every non-key attribute is FULLY functionally dependent on the ENTIRE primary key. No partial dependencies allowed.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⚠  Partial Dependency: A non-key attribute depends on only PART of a composite key.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04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❌  Violating Table (Composite PK: OrderID + ProductID):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96896"/>
            <a:ext cx="11430000" cy="713232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615184"/>
            <a:ext cx="111556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EFF4"/>
                </a:solidFill>
              </a:rPr>
              <a:t>  OrderID  |  ProductID  |  ProductName  |  Quantity  |  CustomerName
  ─────────────────────────────────────────────────────────────────────────
    1001    |    P01      |    Laptop     |     2      |  Alice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15893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2ECC71"/>
                </a:solidFill>
              </a:rPr>
              <a:t>✅  Solution — Decompose into 3 tables: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17645"/>
            <a:ext cx="3566160" cy="658368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045076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D166"/>
                </a:solidFill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01108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FFFFF"/>
                </a:solidFill>
              </a:rPr>
              <a:t>OrderID</a:t>
            </a:r>
            <a:r>
              <a:rPr sz="1100" b="0" i="0" dirty="0">
                <a:solidFill>
                  <a:srgbClr val="FFFFFF"/>
                </a:solidFill>
              </a:rPr>
              <a:t>  |  </a:t>
            </a:r>
            <a:r>
              <a:rPr sz="1100" b="0" i="0" dirty="0" err="1">
                <a:solidFill>
                  <a:srgbClr val="FFFFFF"/>
                </a:solidFill>
              </a:rPr>
              <a:t>CustomerName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160520" y="4026789"/>
            <a:ext cx="3566160" cy="658368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51959" y="4045076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Products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4301108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ProductID  |  ProductName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4026789"/>
            <a:ext cx="3840480" cy="658368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19" y="40450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OrderDetails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430110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OrderID  |  ProductID  |  Quantity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B. Normal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Third Normal Form (3NF) — Eliminating Transitive Dependencies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430000" cy="768096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table is in 3NF if: (1) It is already in 2NF, AND (2) Every non-key attribute is NON-TRANSITIVELY dependent on the primary key.
Mnemonic: '...the KEY, the WHOLE KEY, and NOTHING BUT THE KEY.'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⚠  Transitive Dependency: If  A → B  and  B → C,  then  A → C  is TRANSITIVE (indirect).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042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E74C3C"/>
                </a:solidFill>
              </a:rPr>
              <a:t>❌  Violating Table (PK: StudentID):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96896"/>
            <a:ext cx="11430000" cy="658368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61518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CEFF4"/>
                </a:solidFill>
              </a:rPr>
              <a:t>  StudentID  |  StudentName  |  DeptID  |  DeptName
  ─────────────────────────────────────────────────────────
    S001      |  Alice        |   D01    |  Computer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28416"/>
            <a:ext cx="77724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</a:rPr>
              <a:t>  StudentID  →  </a:t>
            </a:r>
            <a:r>
              <a:rPr sz="1200" b="0" dirty="0" err="1">
                <a:solidFill>
                  <a:srgbClr val="FFFFFF"/>
                </a:solidFill>
              </a:rPr>
              <a:t>DeptID</a:t>
            </a:r>
            <a:r>
              <a:rPr sz="1200" b="0" dirty="0">
                <a:solidFill>
                  <a:srgbClr val="FFFFFF"/>
                </a:solidFill>
              </a:rPr>
              <a:t>          ✅  Direct dependency on PK</a:t>
            </a:r>
          </a:p>
          <a:p>
            <a:pPr algn="l"/>
            <a:r>
              <a:rPr sz="1200" b="0" dirty="0">
                <a:solidFill>
                  <a:srgbClr val="FFFFFF"/>
                </a:solidFill>
              </a:rPr>
              <a:t>  </a:t>
            </a:r>
            <a:r>
              <a:rPr sz="1200" b="0" dirty="0" err="1">
                <a:solidFill>
                  <a:srgbClr val="FFFFFF"/>
                </a:solidFill>
              </a:rPr>
              <a:t>DeptID</a:t>
            </a:r>
            <a:r>
              <a:rPr sz="1200" b="0" dirty="0">
                <a:solidFill>
                  <a:srgbClr val="FFFFFF"/>
                </a:solidFill>
              </a:rPr>
              <a:t>     →  </a:t>
            </a:r>
            <a:r>
              <a:rPr sz="1200" b="0" dirty="0" err="1">
                <a:solidFill>
                  <a:srgbClr val="FFFFFF"/>
                </a:solidFill>
              </a:rPr>
              <a:t>DeptName</a:t>
            </a:r>
            <a:r>
              <a:rPr sz="1200" b="0" dirty="0">
                <a:solidFill>
                  <a:srgbClr val="FFFFFF"/>
                </a:solidFill>
              </a:rPr>
              <a:t>        ✅  Direct (but </a:t>
            </a:r>
            <a:r>
              <a:rPr sz="1200" b="0" dirty="0" err="1">
                <a:solidFill>
                  <a:srgbClr val="FFFFFF"/>
                </a:solidFill>
              </a:rPr>
              <a:t>DeptID</a:t>
            </a:r>
            <a:r>
              <a:rPr sz="1200" b="0" dirty="0">
                <a:solidFill>
                  <a:srgbClr val="FFFFFF"/>
                </a:solidFill>
              </a:rPr>
              <a:t> is not the PK!)</a:t>
            </a:r>
          </a:p>
          <a:p>
            <a:pPr algn="l"/>
            <a:r>
              <a:rPr sz="1200" b="1" dirty="0">
                <a:solidFill>
                  <a:srgbClr val="FFD166"/>
                </a:solidFill>
              </a:rPr>
              <a:t>  StudentID  →  </a:t>
            </a:r>
            <a:r>
              <a:rPr sz="1200" b="1" dirty="0" err="1">
                <a:solidFill>
                  <a:srgbClr val="FFD166"/>
                </a:solidFill>
              </a:rPr>
              <a:t>DeptName</a:t>
            </a:r>
            <a:r>
              <a:rPr sz="1200" b="1" dirty="0">
                <a:solidFill>
                  <a:srgbClr val="FFD166"/>
                </a:solidFill>
              </a:rPr>
              <a:t>        ❌  TRANSITIVE — goes through </a:t>
            </a:r>
            <a:r>
              <a:rPr sz="1200" b="1" dirty="0" err="1">
                <a:solidFill>
                  <a:srgbClr val="FFD166"/>
                </a:solidFill>
              </a:rPr>
              <a:t>DeptID</a:t>
            </a:r>
            <a:r>
              <a:rPr sz="1200" b="1" dirty="0">
                <a:solidFill>
                  <a:srgbClr val="FFD166"/>
                </a:solidFill>
              </a:rPr>
              <a:t>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3328416"/>
            <a:ext cx="3474720" cy="877824"/>
          </a:xfrm>
          <a:prstGeom prst="rect">
            <a:avLst/>
          </a:prstGeom>
          <a:solidFill>
            <a:srgbClr val="4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334670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Caused Anomalies: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6210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⚠  Update Anomaly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  ⚠  Deletion Anomaly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  ⚠  Insertion Anomaly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159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✅  Solution — Decompose into 2 tables: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26864"/>
            <a:ext cx="5303520" cy="585216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6451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Student Table: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8289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StudentID  |  StudentName  |  DeptID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626864"/>
            <a:ext cx="5303520" cy="585216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6451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Department Table: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88289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DeptID  |  DeptName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C. Functional Dependencies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Functional Dependencies — Concepts and Identification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03960"/>
            <a:ext cx="11795760" cy="292608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2131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121310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21310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Example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496568"/>
            <a:ext cx="224028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15240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Determinant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496568"/>
            <a:ext cx="370332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7479" y="1524000"/>
            <a:ext cx="3611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Left side of FD — uniquely determines another attr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496568"/>
            <a:ext cx="534924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524000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StudentID in StudentID →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807464"/>
            <a:ext cx="224028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183489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Dependent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1807464"/>
            <a:ext cx="370332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97479" y="1834896"/>
            <a:ext cx="3611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Right side of FD — is determined by another attr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07464"/>
            <a:ext cx="534924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1834896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Name in StudentID → 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18360"/>
            <a:ext cx="224028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214579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Full FD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118360"/>
            <a:ext cx="370332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97479" y="2145792"/>
            <a:ext cx="3611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Dependent relies on the ENTIRE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118360"/>
            <a:ext cx="534924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214579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Critical for 2NF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29256"/>
            <a:ext cx="224028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24566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Partial FD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2429256"/>
            <a:ext cx="370332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97479" y="2456688"/>
            <a:ext cx="3611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Dependent relies on PART of composite key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29256"/>
            <a:ext cx="5349240" cy="310896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245668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Violates 2NF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740152"/>
            <a:ext cx="224028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76758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Transitive FD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2740152"/>
            <a:ext cx="370332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79" y="2767584"/>
            <a:ext cx="3611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A → B → C  chain through non-key attribute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40152"/>
            <a:ext cx="5349240" cy="310896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2767584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Violates 3NF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096768"/>
            <a:ext cx="11430000" cy="292608"/>
          </a:xfrm>
          <a:prstGeom prst="rect">
            <a:avLst/>
          </a:prstGeom>
          <a:solidFill>
            <a:srgbClr val="0D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311505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8BD2"/>
                </a:solidFill>
              </a:rPr>
              <a:t>How to Identify Functional Dependencies (5 Steps):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416808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Step 1: List all attributes in the table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  Step 2: Identify the primary key (single or composite)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  Step 3: For each non-key attribute — ask 'What uniquely determines this?'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  Step 4: Write down all discovered FDs</a:t>
            </a:r>
          </a:p>
          <a:p>
            <a:pPr algn="l"/>
            <a:r>
              <a:rPr sz="1200" b="0">
                <a:solidFill>
                  <a:srgbClr val="FFD166"/>
                </a:solidFill>
              </a:rPr>
              <a:t>  Step 5: Check for partial FDs (→ 2NF issue) and transitive FDs (→ 3NF issue)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D. Normalization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Normalization Process — Step-by-Step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6858000" cy="530352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280160"/>
            <a:ext cx="67482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 RAW / UNNORMALIZED DATA (UNF)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700784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CEFF4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92224"/>
            <a:ext cx="6858000" cy="530352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865376"/>
            <a:ext cx="67482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Step 1 → 1NF  :  Make all values atomic; remove repeating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286000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CEFF4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39"/>
            <a:ext cx="6858000" cy="530352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2450591"/>
            <a:ext cx="67482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Step 2 → 2NF  :  Remove partial dependencies (split composite-key tables)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71215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CEFF4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962656"/>
            <a:ext cx="6858000" cy="530352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3035808"/>
            <a:ext cx="67482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Step 3 → 3NF  :  Remove transitive dependencies (split non-key → non-key FDs)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456432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CEFF4"/>
                </a:solidFill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47872"/>
            <a:ext cx="6858000" cy="5303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" y="3621024"/>
            <a:ext cx="67482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 NORMALIZED DATABASE 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1207008"/>
            <a:ext cx="4297680" cy="329184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0" y="122529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✅ Lossless-Join Decomposition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572768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Joining all decomposed tables returns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EXACTLY the original data — no extra or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missing rows (no spurious tuples).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  Test: Common attribute must be a key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  in at least one of the split tables.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2816352"/>
            <a:ext cx="4297680" cy="329184"/>
          </a:xfrm>
          <a:prstGeom prst="rect">
            <a:avLst/>
          </a:prstGeom>
          <a:solidFill>
            <a:srgbClr val="0D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0" y="28346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8BD2"/>
                </a:solidFill>
              </a:rPr>
              <a:t>✅ Dependency Preservation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82112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All original FDs must still be enforceable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using the decomposed tables alone.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If a dependency is lost, the database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cannot enforce that business rule without</a:t>
            </a:r>
          </a:p>
          <a:p>
            <a:pPr algn="l"/>
            <a:r>
              <a:rPr sz="1100" b="0">
                <a:solidFill>
                  <a:srgbClr val="FFFFFF"/>
                </a:solidFill>
              </a:rPr>
              <a:t>additional application-level checks.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4526280"/>
            <a:ext cx="4297680" cy="640080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89520" y="4544568"/>
            <a:ext cx="41148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CEFF4"/>
                </a:solidFill>
              </a:rPr>
              <a:t>  Key Principles:
  • Always work bottom-up (1NF → 2NF → 3NF)
  • Lossless join is NON-NEGOTIABLE
  • 3NF is the standard target for most systems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Normal Forms at a Glance — Comparison 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795760" cy="347472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2161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216152"/>
            <a:ext cx="26974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Key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216152"/>
            <a:ext cx="3611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Removes / 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216152"/>
            <a:ext cx="3794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</a:rPr>
              <a:t>How to Achieve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54480"/>
            <a:ext cx="100584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600200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</a:rPr>
              <a:t>  1NF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17320" y="1554480"/>
            <a:ext cx="278892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26974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Atomic values, no repeating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554480"/>
            <a:ext cx="370332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1600200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Multi-valued / repeating columns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554480"/>
            <a:ext cx="388620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600200"/>
            <a:ext cx="3794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Single or composite PK with atomic 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1005840" cy="960120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2606039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39C12"/>
                </a:solidFill>
              </a:rPr>
              <a:t>  2NF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" y="2560320"/>
            <a:ext cx="2788920" cy="960120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2606039"/>
            <a:ext cx="26974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Full dependency on entire primary key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560320"/>
            <a:ext cx="3703320" cy="960120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0" y="2606039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Partial dependencies (non-key attr depends on part of composite PK)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2560320"/>
            <a:ext cx="3886200" cy="960120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0" y="2606039"/>
            <a:ext cx="3794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Composite key: split partial FDs into separate tables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566160"/>
            <a:ext cx="100584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3611880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</a:rPr>
              <a:t>  3NF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17320" y="3566160"/>
            <a:ext cx="278892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611880"/>
            <a:ext cx="26974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No non-key attribute depends on another non-key attribute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3566160"/>
            <a:ext cx="370332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97680" y="3611880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Transitive dependencies (non-key → non-key → value)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566160"/>
            <a:ext cx="3886200" cy="960120"/>
          </a:xfrm>
          <a:prstGeom prst="rect">
            <a:avLst/>
          </a:prstGeom>
          <a:solidFill>
            <a:srgbClr val="10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46720" y="3611880"/>
            <a:ext cx="3794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Move transitively dependent attrs to their own table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81728"/>
            <a:ext cx="11795760" cy="475488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4700016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8BD2"/>
                </a:solidFill>
              </a:rPr>
              <a:t>  💡  Remember: Each higher NF builds on and includes all requirements of the forms below it.
  A table in 3NF is also in 2NF and 1NF.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68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EFF4"/>
                </a:solidFill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"/>
            <a:ext cx="11457432" cy="868680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2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Best Practices &amp; 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07008"/>
            <a:ext cx="11430000" cy="329184"/>
          </a:xfrm>
          <a:prstGeom prst="rect">
            <a:avLst/>
          </a:prstGeom>
          <a:solidFill>
            <a:srgbClr val="1B4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🔑  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 1NF: Eliminate multi-valued columns — each cell holds exactly one value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2NF: Eliminate partial dependencies — every non-key attr depends on the full PK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3NF: Eliminate transitive dependencies — non-key attrs depend ONLY on the PK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Normalization is cumulative — a table in 3NF is also in 2NF and 1NF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  •  Always verify lossless-join decomposition at every 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11430000" cy="329184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17296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✅  Best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17296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❌  Common Pitfalls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0440"/>
            <a:ext cx="5577840" cy="292608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35387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•  Start from UNF and normalize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31336"/>
            <a:ext cx="5577840" cy="292608"/>
          </a:xfrm>
          <a:prstGeom prst="rect">
            <a:avLst/>
          </a:prstGeom>
          <a:solidFill>
            <a:srgbClr val="10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384962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•  Document all FDs before starting normalization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42232"/>
            <a:ext cx="5577840" cy="292608"/>
          </a:xfrm>
          <a:prstGeom prst="rect">
            <a:avLst/>
          </a:prstGeom>
          <a:solidFill>
            <a:srgbClr val="0D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41605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•  Verify lossless join at every decomposition step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53128"/>
            <a:ext cx="5577840" cy="292608"/>
          </a:xfrm>
          <a:prstGeom prst="rect">
            <a:avLst/>
          </a:prstGeom>
          <a:solidFill>
            <a:srgbClr val="103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447141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•  Aim for 3NF as the baseline for production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520440"/>
            <a:ext cx="2377440" cy="292608"/>
          </a:xfrm>
          <a:prstGeom prst="rect">
            <a:avLst/>
          </a:prstGeom>
          <a:solidFill>
            <a:srgbClr val="3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35387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</a:rPr>
              <a:t>  Over-normalizing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520440"/>
            <a:ext cx="3200400" cy="292608"/>
          </a:xfrm>
          <a:prstGeom prst="rect">
            <a:avLst/>
          </a:prstGeom>
          <a:solidFill>
            <a:srgbClr val="3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41080" y="353872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Too many joins slow down queries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831336"/>
            <a:ext cx="2377440" cy="292608"/>
          </a:xfrm>
          <a:prstGeom prst="rect">
            <a:avLst/>
          </a:prstGeom>
          <a:solidFill>
            <a:srgbClr val="38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0" y="3849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</a:rPr>
              <a:t>  Under-normalizing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3831336"/>
            <a:ext cx="3200400" cy="292608"/>
          </a:xfrm>
          <a:prstGeom prst="rect">
            <a:avLst/>
          </a:prstGeom>
          <a:solidFill>
            <a:srgbClr val="38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41080" y="384962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Leads to update/insert/delete anomalies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142232"/>
            <a:ext cx="2377440" cy="292608"/>
          </a:xfrm>
          <a:prstGeom prst="rect">
            <a:avLst/>
          </a:prstGeom>
          <a:solidFill>
            <a:srgbClr val="3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0" y="41605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</a:rPr>
              <a:t>  Ignoring composite keys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4142232"/>
            <a:ext cx="3200400" cy="292608"/>
          </a:xfrm>
          <a:prstGeom prst="rect">
            <a:avLst/>
          </a:prstGeom>
          <a:solidFill>
            <a:srgbClr val="3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41080" y="41605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Missing partial deps → 2NF 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53128"/>
            <a:ext cx="2377440" cy="292608"/>
          </a:xfrm>
          <a:prstGeom prst="rect">
            <a:avLst/>
          </a:prstGeom>
          <a:solidFill>
            <a:srgbClr val="38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17920" y="44714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</a:rPr>
              <a:t>  Breaking lossless join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60" y="4453128"/>
            <a:ext cx="3200400" cy="292608"/>
          </a:xfrm>
          <a:prstGeom prst="rect">
            <a:avLst/>
          </a:prstGeom>
          <a:solidFill>
            <a:srgbClr val="38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41080" y="447141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  Split tables cannot be rejoined correctly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809744"/>
            <a:ext cx="11430000" cy="512064"/>
          </a:xfrm>
          <a:prstGeom prst="rect">
            <a:avLst/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" y="482803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8BD2"/>
                </a:solidFill>
              </a:rPr>
              <a:t>  💡  Normalization is a TOOL, not an end goal. Design with purpose!
  "Normalization is the foundation of good relational database design — every scalable, maintainable system relies on it."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3172</Words>
  <Application>Microsoft Office PowerPoint</Application>
  <PresentationFormat>Custom</PresentationFormat>
  <Paragraphs>277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Roden Pelegrino</cp:lastModifiedBy>
  <cp:revision>74</cp:revision>
  <dcterms:created xsi:type="dcterms:W3CDTF">2013-01-27T09:14:16Z</dcterms:created>
  <dcterms:modified xsi:type="dcterms:W3CDTF">2026-04-28T08:01:35Z</dcterms:modified>
  <cp:category/>
</cp:coreProperties>
</file>